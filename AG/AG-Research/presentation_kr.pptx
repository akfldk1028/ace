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371600"/>
            <a:ext cx="73152" cy="2286000"/>
          </a:xfrm>
          <a:prstGeom prst="rect">
            <a:avLst/>
          </a:prstGeom>
          <a:solidFill>
            <a:srgbClr val="4E7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371600"/>
            <a:ext cx="6858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맑은 고딕"/>
              </a:defRPr>
            </a:pPr>
            <a:r>
              <a:t>멀티 에이전트 팀은</a:t>
            </a:r>
            <a:br/>
            <a:r>
              <a:t>언제 멈춰야 하는가?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743200"/>
            <a:ext cx="6858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E7CFF"/>
                </a:solidFill>
                <a:latin typeface="맑은 고딕"/>
              </a:defRPr>
            </a:pPr>
            <a:r>
              <a:t>13가지 조정 토폴로지에서의 종료 역학 체계적 연구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84048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88"/>
                </a:solidFill>
                <a:latin typeface="맑은 고딕"/>
              </a:defRPr>
            </a:pPr>
            <a:r>
              <a:t>When Should Multi-Agent Teams Stop?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20624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88"/>
                </a:solidFill>
                <a:latin typeface="맑은 고딕"/>
              </a:defRPr>
            </a:pPr>
            <a:r>
              <a:t>A Systematic Study of Termination Dynamics Across 13 Coordination Topologies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512064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88"/>
                </a:solidFill>
                <a:latin typeface="맑은 고딕"/>
              </a:defRPr>
            </a:pPr>
            <a:r>
              <a:t>2026.02  |  COLM 2026 / ACL Workshops 투고 예정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63093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88888"/>
                </a:solidFill>
                <a:latin typeface="맑은 고딕"/>
              </a:defRPr>
            </a:pPr>
            <a:r>
              <a:t>1/12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E7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D2D2D"/>
                </a:solidFill>
                <a:latin typeface="맑은 고딕"/>
              </a:defRPr>
            </a:pPr>
            <a:r>
              <a:t>연구 동기: 왜 종료(Termination)가 문제인가?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3840480" cy="228600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E0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E7CFF"/>
                </a:solidFill>
                <a:latin typeface="맑은 고딕"/>
              </a:defRPr>
            </a:pPr>
            <a:r>
              <a:t>현재 종료 기준 (획일적 적용)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3474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2D2D2D"/>
                </a:solidFill>
                <a:latin typeface="맑은 고딕"/>
              </a:defRPr>
            </a:pPr>
            <a:r>
              <a:t>• 고정 턴 수 (max_turns = 10)</a:t>
            </a:r>
          </a:p>
          <a:p>
            <a:pPr>
              <a:spcAft>
                <a:spcPts val="600"/>
              </a:spcAft>
              <a:defRPr sz="1200">
                <a:solidFill>
                  <a:srgbClr val="2D2D2D"/>
                </a:solidFill>
                <a:latin typeface="맑은 고딕"/>
              </a:defRPr>
            </a:pPr>
            <a:r>
              <a:t>• 키워드 감지 ("TERMINATE")</a:t>
            </a:r>
          </a:p>
          <a:p>
            <a:pPr>
              <a:spcAft>
                <a:spcPts val="600"/>
              </a:spcAft>
              <a:defRPr sz="1200">
                <a:solidFill>
                  <a:srgbClr val="2D2D2D"/>
                </a:solidFill>
                <a:latin typeface="맑은 고딕"/>
              </a:defRPr>
            </a:pPr>
            <a:r>
              <a:t>• 외부 타임아웃 신호</a:t>
            </a:r>
          </a:p>
          <a:p>
            <a:pPr>
              <a:spcAft>
                <a:spcPts val="600"/>
              </a:spcAft>
              <a:defRPr sz="1200">
                <a:solidFill>
                  <a:srgbClr val="2D2D2D"/>
                </a:solidFill>
                <a:latin typeface="맑은 고딕"/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2D2D2D"/>
                </a:solidFill>
                <a:latin typeface="맑은 고딕"/>
              </a:defRPr>
            </a:pPr>
            <a:r>
              <a:t>→ 팀 구조와 무관하게 동일 적용</a:t>
            </a:r>
          </a:p>
          <a:p>
            <a:pPr>
              <a:spcAft>
                <a:spcPts val="600"/>
              </a:spcAft>
              <a:defRPr sz="1200">
                <a:solidFill>
                  <a:srgbClr val="2D2D2D"/>
                </a:solidFill>
                <a:latin typeface="맑은 고딕"/>
              </a:defRPr>
            </a:pPr>
            <a:r>
              <a:t>→ 종료 후회(Termination Regret) 발생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63440" y="1188720"/>
            <a:ext cx="4023360" cy="2286000"/>
          </a:xfrm>
          <a:prstGeom prst="roundRect">
            <a:avLst/>
          </a:prstGeom>
          <a:solidFill>
            <a:srgbClr val="F5F5FA"/>
          </a:solidFill>
          <a:ln w="12700">
            <a:solidFill>
              <a:srgbClr val="E0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46320" y="12801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6B6B"/>
                </a:solidFill>
                <a:latin typeface="맑은 고딕"/>
              </a:defRPr>
            </a:pPr>
            <a:r>
              <a:t>3가지 실패 시나리오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1737360"/>
            <a:ext cx="3657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>
                <a:solidFill>
                  <a:srgbClr val="2D2D2D"/>
                </a:solidFill>
                <a:latin typeface="맑은 고딕"/>
              </a:defRPr>
            </a:pPr>
            <a:r>
              <a:t>❌ 과잉 종료: 합의 후에도 토론 계속 → 토큰 낭비</a:t>
            </a:r>
          </a:p>
          <a:p>
            <a:pPr>
              <a:spcAft>
                <a:spcPts val="1000"/>
              </a:spcAft>
              <a:defRPr sz="1100">
                <a:solidFill>
                  <a:srgbClr val="2D2D2D"/>
                </a:solidFill>
                <a:latin typeface="맑은 고딕"/>
              </a:defRPr>
            </a:pPr>
            <a:r>
              <a:t>❌ 과소 종료: 정제 단계 전 중단 → 품질 손실</a:t>
            </a:r>
          </a:p>
          <a:p>
            <a:pPr>
              <a:spcAft>
                <a:spcPts val="1000"/>
              </a:spcAft>
              <a:defRPr sz="1100">
                <a:solidFill>
                  <a:srgbClr val="2D2D2D"/>
                </a:solidFill>
                <a:latin typeface="맑은 고딕"/>
              </a:defRPr>
            </a:pPr>
            <a:r>
              <a:t>❌ 토폴로지 불일치: 잘못된 기준 적용 → 기능 손실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749039"/>
            <a:ext cx="8229600" cy="1371600"/>
          </a:xfrm>
          <a:prstGeom prst="roundRect">
            <a:avLst/>
          </a:prstGeom>
          <a:solidFill>
            <a:srgbClr val="FFF8E1"/>
          </a:solidFill>
          <a:ln w="12700">
            <a:solidFill>
              <a:srgbClr val="FFA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840480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A500"/>
                </a:solidFill>
                <a:latin typeface="맑은 고딕"/>
              </a:defRPr>
            </a:pPr>
            <a:r>
              <a:t>선행 연구의 갭 (Gap)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297680"/>
            <a:ext cx="7863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맑은 고딕"/>
              </a:defRPr>
            </a:pPr>
            <a:r>
              <a:t>• Hu et al. (NeurIPS 2025): debate 전용 종료만 다룸</a:t>
            </a:r>
          </a:p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맑은 고딕"/>
              </a:defRPr>
            </a:pPr>
            <a:r>
              <a:t>• REFRAIN (2025): 단일 에이전트 CoT 전용  |  Aegean (2025): 병렬 합의 전용</a:t>
            </a:r>
          </a:p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맑은 고딕"/>
              </a:defRPr>
            </a:pPr>
            <a:r>
              <a:t>→ 다양한 토폴로지를 통합 프레임워크에서 체계 비교한 연구 = 없음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5394960"/>
            <a:ext cx="8229600" cy="914400"/>
          </a:xfrm>
          <a:prstGeom prst="roundRect">
            <a:avLst/>
          </a:prstGeom>
          <a:solidFill>
            <a:srgbClr val="4E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5532120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맑은 고딕"/>
              </a:defRPr>
            </a:pPr>
            <a:r>
              <a:t>핵심 통찰: 최적 종료 시점은 에이전트의 조정 방식(토폴로지)에 근본적으로 의존한다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63093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88888"/>
                </a:solidFill>
                <a:latin typeface="맑은 고딕"/>
              </a:defRPr>
            </a:pPr>
            <a:r>
              <a:t>2/12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E7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D2D2D"/>
                </a:solidFill>
                <a:latin typeface="맑은 고딕"/>
              </a:defRPr>
            </a:pPr>
            <a:r>
              <a:t>5대 기여 (Contributions)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82296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40080" y="1234439"/>
            <a:ext cx="502920" cy="502920"/>
          </a:xfrm>
          <a:prstGeom prst="ellipse">
            <a:avLst/>
          </a:prstGeom>
          <a:solidFill>
            <a:srgbClr val="4E7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170432"/>
            <a:ext cx="7132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D2D2D"/>
                </a:solidFill>
                <a:latin typeface="맑은 고딕"/>
              </a:defRPr>
            </a:pPr>
            <a:r>
              <a:t>교차 토폴로지 종료 비교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554480"/>
            <a:ext cx="7132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88"/>
                </a:solidFill>
                <a:latin typeface="맑은 고딕"/>
              </a:defRPr>
            </a:pPr>
            <a:r>
              <a:t>13패턴, 4범주를 동일 프레임워크(AutoGen)·동일 모델·동일 과제로 최초 체계 비교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148839"/>
            <a:ext cx="82296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0080" y="2285999"/>
            <a:ext cx="502920" cy="502920"/>
          </a:xfrm>
          <a:prstGeom prst="ellipse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221991"/>
            <a:ext cx="7132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D2D2D"/>
                </a:solidFill>
                <a:latin typeface="맑은 고딕"/>
              </a:defRPr>
            </a:pPr>
            <a:r>
              <a:t>종료 후회 지표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606039"/>
            <a:ext cx="7132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88"/>
                </a:solidFill>
                <a:latin typeface="맑은 고딕"/>
              </a:defRPr>
            </a:pPr>
            <a:r>
              <a:t>G-Eval 턴별 품질 궤적으로 최적 vs. 실제 종료 시점 정밀 비교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200400"/>
            <a:ext cx="82296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0080" y="3337560"/>
            <a:ext cx="502920" cy="502920"/>
          </a:xfrm>
          <a:prstGeom prst="ellipse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3273552"/>
            <a:ext cx="7132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D2D2D"/>
                </a:solidFill>
                <a:latin typeface="맑은 고딕"/>
              </a:defRPr>
            </a:pPr>
            <a:r>
              <a:t>주장 수준 수렴 감지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657600"/>
            <a:ext cx="7132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88"/>
                </a:solidFill>
                <a:latin typeface="맑은 고딕"/>
              </a:defRPr>
            </a:pPr>
            <a:r>
              <a:t>Hu et al.의 KS-검정을 debate → 전체 13개 토폴로지로 확장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251959"/>
            <a:ext cx="82296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0080" y="4389120"/>
            <a:ext cx="502920" cy="50292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325112"/>
            <a:ext cx="7132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D2D2D"/>
                </a:solidFill>
                <a:latin typeface="맑은 고딕"/>
              </a:defRPr>
            </a:pPr>
            <a:r>
              <a:t>패턴별 오류 분류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709159"/>
            <a:ext cx="7132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88"/>
                </a:solidFill>
                <a:latin typeface="맑은 고딕"/>
              </a:defRPr>
            </a:pPr>
            <a:r>
              <a:t>토폴로지 특성과 오류 유형(환각/불완전/불일치) 상관 규명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5303520"/>
            <a:ext cx="82296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0080" y="5440680"/>
            <a:ext cx="502920" cy="502920"/>
          </a:xfrm>
          <a:prstGeom prst="ellipse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5376672"/>
            <a:ext cx="7132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D2D2D"/>
                </a:solidFill>
                <a:latin typeface="맑은 고딕"/>
              </a:defRPr>
            </a:pPr>
            <a:r>
              <a:t>적응적 종료 메커니즘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5760720"/>
            <a:ext cx="7132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88"/>
                </a:solidFill>
                <a:latin typeface="맑은 고딕"/>
              </a:defRPr>
            </a:pPr>
            <a:r>
              <a:t>U(t) = Q(t) - λ·C(t)  — REFRAIN/Aegean과 차별화된 효용 기반 종료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0" y="63093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88888"/>
                </a:solidFill>
                <a:latin typeface="맑은 고딕"/>
              </a:defRPr>
            </a:pPr>
            <a:r>
              <a:t>3/12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E7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D2D2D"/>
                </a:solidFill>
                <a:latin typeface="맑은 고딕"/>
              </a:defRPr>
            </a:pPr>
            <a:r>
              <a:t>실험 설계: 13 패턴 × 4 범주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196596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E7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1965960" cy="411480"/>
          </a:xfrm>
          <a:prstGeom prst="roundRect">
            <a:avLst/>
          </a:prstGeom>
          <a:solidFill>
            <a:srgbClr val="4E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07008"/>
            <a:ext cx="1783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A. 고정 순차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37360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D2D2D"/>
                </a:solidFill>
                <a:latin typeface="맑은 고딕"/>
              </a:defRPr>
            </a:pPr>
            <a:r>
              <a:t>RR-2, RR-3, RR-4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286000"/>
            <a:ext cx="1783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88888"/>
                </a:solidFill>
                <a:latin typeface="맑은 고딕"/>
              </a:defRPr>
            </a:pPr>
            <a:r>
              <a:t>라운드 로빈</a:t>
            </a:r>
            <a:br/>
            <a:r>
              <a:t>고정 순서 순환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06040" y="1188720"/>
            <a:ext cx="196596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C9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606040" y="1188720"/>
            <a:ext cx="1965960" cy="411480"/>
          </a:xfrm>
          <a:prstGeom prst="round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97480" y="1207008"/>
            <a:ext cx="1783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B. 동적 라우팅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97480" y="1737360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D2D2D"/>
                </a:solidFill>
                <a:latin typeface="맑은 고딕"/>
              </a:defRPr>
            </a:pPr>
            <a:r>
              <a:t>Sel-3/4, Swm-3/4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97480" y="2286000"/>
            <a:ext cx="1783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88888"/>
                </a:solidFill>
                <a:latin typeface="맑은 고딕"/>
              </a:defRPr>
            </a:pPr>
            <a:r>
              <a:t>조정자가 다음</a:t>
            </a:r>
            <a:br/>
            <a:r>
              <a:t>에이전트 선택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54880" y="1188720"/>
            <a:ext cx="196596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A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754880" y="1188720"/>
            <a:ext cx="1965960" cy="411480"/>
          </a:xfrm>
          <a:prstGeom prst="roundRect">
            <a:avLst/>
          </a:prstGeom>
          <a:solidFill>
            <a:srgbClr val="FF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46320" y="1207008"/>
            <a:ext cx="1783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C. 구조화 피드백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0" y="1737360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D2D2D"/>
                </a:solidFill>
                <a:latin typeface="맑은 고딕"/>
              </a:defRPr>
            </a:pPr>
            <a:r>
              <a:t>Refl-2/3, Deb-3/4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46320" y="2286000"/>
            <a:ext cx="1783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88888"/>
                </a:solidFill>
                <a:latin typeface="맑은 고딕"/>
              </a:defRPr>
            </a:pPr>
            <a:r>
              <a:t>반성(생성+비평)</a:t>
            </a:r>
            <a:br/>
            <a:r>
              <a:t>토론(논거 교환)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903720" y="1188720"/>
            <a:ext cx="196596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903720" y="1188720"/>
            <a:ext cx="1965960" cy="411480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95160" y="1207008"/>
            <a:ext cx="1783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D. 복합/중첩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95160" y="1737360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D2D2D"/>
                </a:solidFill>
                <a:latin typeface="맑은 고딕"/>
              </a:defRPr>
            </a:pPr>
            <a:r>
              <a:t>Pipe, MoA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2286000"/>
            <a:ext cx="1783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88888"/>
                </a:solidFill>
                <a:latin typeface="맑은 고딕"/>
              </a:defRPr>
            </a:pPr>
            <a:r>
              <a:t>파이프라인</a:t>
            </a:r>
            <a:br/>
            <a:r>
              <a:t>병렬 집약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3749039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D2D2D"/>
                </a:solidFill>
                <a:latin typeface="맑은 고딕"/>
              </a:defRPr>
            </a:pPr>
            <a:r>
              <a:t>5개 실험 (총 ~1,760회 실행)</a:t>
            </a:r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457200" y="4206240"/>
          <a:ext cx="82296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743200"/>
                <a:gridCol w="1371600"/>
                <a:gridCol w="22860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실험</a:t>
                      </a:r>
                    </a:p>
                  </a:txBody>
                  <a:tcPr anchor="ctr">
                    <a:solidFill>
                      <a:srgbClr val="4E7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목표</a:t>
                      </a:r>
                    </a:p>
                  </a:txBody>
                  <a:tcPr anchor="ctr">
                    <a:solidFill>
                      <a:srgbClr val="4E7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실행 수</a:t>
                      </a:r>
                    </a:p>
                  </a:txBody>
                  <a:tcPr anchor="ctr">
                    <a:solidFill>
                      <a:srgbClr val="4E7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상태</a:t>
                      </a:r>
                    </a:p>
                  </a:txBody>
                  <a:tcPr anchor="ctr">
                    <a:solidFill>
                      <a:srgbClr val="4E7C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맑은 고딕"/>
                        </a:defRPr>
                      </a:pPr>
                      <a:r>
                        <a:t>01: 패턴 효율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맑은 고딕"/>
                        </a:defRPr>
                      </a:pPr>
                      <a:r>
                        <a:t>토폴로지별 비용 비교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맑은 고딕"/>
                        </a:defRPr>
                      </a:pPr>
                      <a:r>
                        <a:t>780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맑은 고딕"/>
                        </a:defRPr>
                      </a:pPr>
                      <a:r>
                        <a:t>98% 완료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맑은 고딕"/>
                        </a:defRPr>
                      </a:pPr>
                      <a:r>
                        <a:t>02: 종료 품질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맑은 고딕"/>
                        </a:defRPr>
                      </a:pPr>
                      <a:r>
                        <a:t>G-Eval 턴별 품질 궤적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맑은 고딕"/>
                        </a:defRPr>
                      </a:pPr>
                      <a:r>
                        <a:t>260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맑은 고딕"/>
                        </a:defRPr>
                      </a:pPr>
                      <a:r>
                        <a:t>대기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맑은 고딕"/>
                        </a:defRPr>
                      </a:pPr>
                      <a:r>
                        <a:t>03: 수렴 감지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맑은 고딕"/>
                        </a:defRPr>
                      </a:pPr>
                      <a:r>
                        <a:t>KS-검정 안정성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맑은 고딕"/>
                        </a:defRPr>
                      </a:pPr>
                      <a:r>
                        <a:t>분석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맑은 고딕"/>
                        </a:defRPr>
                      </a:pPr>
                      <a:r>
                        <a:t>Cat A 완료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맑은 고딕"/>
                        </a:defRPr>
                      </a:pPr>
                      <a:r>
                        <a:t>04: 오류 귀인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맑은 고딕"/>
                        </a:defRPr>
                      </a:pPr>
                      <a:r>
                        <a:t>패턴별 오류 분류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맑은 고딕"/>
                        </a:defRPr>
                      </a:pPr>
                      <a:r>
                        <a:t>분석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맑은 고딕"/>
                        </a:defRPr>
                      </a:pPr>
                      <a:r>
                        <a:t>Cat A 완료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맑은 고딕"/>
                        </a:defRPr>
                      </a:pPr>
                      <a:r>
                        <a:t>05: 적응적 종료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맑은 고딕"/>
                        </a:defRPr>
                      </a:pPr>
                      <a:r>
                        <a:t>U(t)=Q(t)-λC(t) 검증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맑은 고딕"/>
                        </a:defRPr>
                      </a:pPr>
                      <a:r>
                        <a:t>720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맑은 고딕"/>
                        </a:defRPr>
                      </a:pPr>
                      <a:r>
                        <a:t>대기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8046720" y="63093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88888"/>
                </a:solidFill>
                <a:latin typeface="맑은 고딕"/>
              </a:defRPr>
            </a:pPr>
            <a:r>
              <a:t>4/12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E7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D2D2D"/>
                </a:solidFill>
                <a:latin typeface="맑은 고딕"/>
              </a:defRPr>
            </a:pPr>
            <a:r>
              <a:t>실험 01 진행 현황 (764/780 완료)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82296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286000"/>
                <a:gridCol w="1371600"/>
                <a:gridCol w="1828800"/>
                <a:gridCol w="914400"/>
              </a:tblGrid>
              <a:tr h="381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범주</a:t>
                      </a:r>
                    </a:p>
                  </a:txBody>
                  <a:tcPr anchor="ctr">
                    <a:solidFill>
                      <a:srgbClr val="4E7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패턴</a:t>
                      </a:r>
                    </a:p>
                  </a:txBody>
                  <a:tcPr anchor="ctr">
                    <a:solidFill>
                      <a:srgbClr val="4E7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실행 수</a:t>
                      </a:r>
                    </a:p>
                  </a:txBody>
                  <a:tcPr anchor="ctr">
                    <a:solidFill>
                      <a:srgbClr val="4E7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에러율</a:t>
                      </a:r>
                    </a:p>
                  </a:txBody>
                  <a:tcPr anchor="ctr">
                    <a:solidFill>
                      <a:srgbClr val="4E7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상태</a:t>
                      </a:r>
                    </a:p>
                  </a:txBody>
                  <a:tcPr anchor="ctr">
                    <a:solidFill>
                      <a:srgbClr val="4E7C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맑은 고딕"/>
                        </a:defRPr>
                      </a:pPr>
                      <a:r>
                        <a:t>A (고정 순차)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맑은 고딕"/>
                        </a:defRPr>
                      </a:pPr>
                      <a:r>
                        <a:t>rr2, rr3, rr4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맑은 고딕"/>
                        </a:defRPr>
                      </a:pPr>
                      <a:r>
                        <a:t>180/180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맑은 고딕"/>
                        </a:defRPr>
                      </a:pPr>
                      <a:r>
                        <a:t>rr2:8.3% rr3:23.3%*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맑은 고딕"/>
                        </a:defRPr>
                      </a:pPr>
                      <a:r>
                        <a:t>✅ 완료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맑은 고딕"/>
                        </a:defRPr>
                      </a:pPr>
                      <a:r>
                        <a:t>B (동적 라우팅)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맑은 고딕"/>
                        </a:defRPr>
                      </a:pPr>
                      <a:r>
                        <a:t>sel3, sel4, swm3, swm4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맑은 고딕"/>
                        </a:defRPr>
                      </a:pPr>
                      <a:r>
                        <a:t>240/240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맑은 고딕"/>
                        </a:defRPr>
                      </a:pPr>
                      <a:r>
                        <a:t>0%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맑은 고딕"/>
                        </a:defRPr>
                      </a:pPr>
                      <a:r>
                        <a:t>✅ 완료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맑은 고딕"/>
                        </a:defRPr>
                      </a:pPr>
                      <a:r>
                        <a:t>C (구조화 피드백)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맑은 고딕"/>
                        </a:defRPr>
                      </a:pPr>
                      <a:r>
                        <a:t>refl2, refl3, deb3, deb4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맑은 고딕"/>
                        </a:defRPr>
                      </a:pPr>
                      <a:r>
                        <a:t>240/240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맑은 고딕"/>
                        </a:defRPr>
                      </a:pPr>
                      <a:r>
                        <a:t>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맑은 고딕"/>
                        </a:defRPr>
                      </a:pPr>
                      <a:r>
                        <a:t>✅ 완료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맑은 고딕"/>
                        </a:defRPr>
                      </a:pPr>
                      <a:r>
                        <a:t>D (복합) pipe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맑은 고딕"/>
                        </a:defRPr>
                      </a:pPr>
                      <a:r>
                        <a:t>pipe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맑은 고딕"/>
                        </a:defRPr>
                      </a:pPr>
                      <a:r>
                        <a:t>60/60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맑은 고딕"/>
                        </a:defRPr>
                      </a:pPr>
                      <a:r>
                        <a:t>0%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맑은 고딕"/>
                        </a:defRPr>
                      </a:pPr>
                      <a:r>
                        <a:t>✅ 완료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맑은 고딕"/>
                        </a:defRPr>
                      </a:pPr>
                      <a:r>
                        <a:t>D (복합) moa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맑은 고딕"/>
                        </a:defRPr>
                      </a:pPr>
                      <a:r>
                        <a:t>moa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맑은 고딕"/>
                        </a:defRPr>
                      </a:pPr>
                      <a:r>
                        <a:t>44/60 진행중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맑은 고딕"/>
                        </a:defRPr>
                      </a:pPr>
                      <a:r>
                        <a:t>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맑은 고딕"/>
                        </a:defRPr>
                      </a:pPr>
                      <a:r>
                        <a:t>🔄 실행중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  <a:latin typeface="맑은 고딕"/>
              </a:defRPr>
            </a:pPr>
            <a:r>
              <a:t>*Cat A 에러는 인프라 버그(prompt truncation)로 과대평가. Cat B 이후 코드 수정으로 0% 에러 달성.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4206240"/>
            <a:ext cx="8229600" cy="2286000"/>
          </a:xfrm>
          <a:prstGeom prst="roundRect">
            <a:avLst/>
          </a:prstGeom>
          <a:solidFill>
            <a:srgbClr val="F5F5FA"/>
          </a:solidFill>
          <a:ln w="12700">
            <a:solidFill>
              <a:srgbClr val="E0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4297680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D2D2D"/>
                </a:solidFill>
                <a:latin typeface="맑은 고딕"/>
              </a:defRPr>
            </a:pPr>
            <a:r>
              <a:t>실험 인프라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754880"/>
            <a:ext cx="3657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맑은 고딕"/>
              </a:defRPr>
            </a:pPr>
            <a:r>
              <a:t>• 프레임워크: AutoGen + 커스텀 ChatCompletionClient</a:t>
            </a:r>
          </a:p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맑은 고딕"/>
              </a:defRPr>
            </a:pPr>
            <a:r>
              <a:t>• 기반 모델: Claude Haiku 4.5 (일관성)</a:t>
            </a:r>
          </a:p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맑은 고딕"/>
              </a:defRPr>
            </a:pPr>
            <a:r>
              <a:t>• 평가 모델: Claude Sonnet 4.5 (G-Eval judge)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4754880"/>
            <a:ext cx="3657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맑은 고딕"/>
              </a:defRPr>
            </a:pPr>
            <a:r>
              <a:t>• 과제: 20개 (사실5/창의5/분석5/기술5) × 3반복</a:t>
            </a:r>
          </a:p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맑은 고딕"/>
              </a:defRPr>
            </a:pPr>
            <a:r>
              <a:t>• 지표: 지속시간, 턴수, 토큰(in/out), 오류율</a:t>
            </a:r>
          </a:p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맑은 고딕"/>
              </a:defRPr>
            </a:pPr>
            <a:r>
              <a:t>• 체크포인트: 패턴별 자동 저장 (장애 복구)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63093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88888"/>
                </a:solidFill>
                <a:latin typeface="맑은 고딕"/>
              </a:defRPr>
            </a:pPr>
            <a:r>
              <a:t>5/12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E7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D2D2D"/>
                </a:solidFill>
                <a:latin typeface="맑은 고딕"/>
              </a:defRPr>
            </a:pPr>
            <a:r>
              <a:t>범주 A: 고정 순차 (Round-Robin)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73152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097280"/>
                <a:gridCol w="1188720"/>
                <a:gridCol w="1371600"/>
                <a:gridCol w="1371600"/>
                <a:gridCol w="118872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패턴</a:t>
                      </a:r>
                    </a:p>
                  </a:txBody>
                  <a:tcPr anchor="ctr">
                    <a:solidFill>
                      <a:srgbClr val="4E7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에이전트</a:t>
                      </a:r>
                    </a:p>
                  </a:txBody>
                  <a:tcPr anchor="ctr">
                    <a:solidFill>
                      <a:srgbClr val="4E7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시간(초)</a:t>
                      </a:r>
                    </a:p>
                  </a:txBody>
                  <a:tcPr anchor="ctr">
                    <a:solidFill>
                      <a:srgbClr val="4E7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총 토큰</a:t>
                      </a:r>
                    </a:p>
                  </a:txBody>
                  <a:tcPr anchor="ctr">
                    <a:solidFill>
                      <a:srgbClr val="4E7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출력/턴</a:t>
                      </a:r>
                    </a:p>
                  </a:txBody>
                  <a:tcPr anchor="ctr">
                    <a:solidFill>
                      <a:srgbClr val="4E7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에러율</a:t>
                      </a:r>
                    </a:p>
                  </a:txBody>
                  <a:tcPr anchor="ctr">
                    <a:solidFill>
                      <a:srgbClr val="4E7C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맑은 고딕"/>
                        </a:defRPr>
                      </a:pPr>
                      <a:r>
                        <a:t>RR-2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맑은 고딕"/>
                        </a:defRPr>
                      </a:pPr>
                      <a:r>
                        <a:t>2명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맑은 고딕"/>
                        </a:defRPr>
                      </a:pPr>
                      <a:r>
                        <a:t>52.4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맑은 고딕"/>
                        </a:defRPr>
                      </a:pPr>
                      <a:r>
                        <a:t>4,759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맑은 고딕"/>
                        </a:defRPr>
                      </a:pPr>
                      <a:r>
                        <a:t>1,583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맑은 고딕"/>
                        </a:defRPr>
                      </a:pPr>
                      <a:r>
                        <a:t>8.3%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맑은 고딕"/>
                        </a:defRPr>
                      </a:pPr>
                      <a:r>
                        <a:t>RR-3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맑은 고딕"/>
                        </a:defRPr>
                      </a:pPr>
                      <a:r>
                        <a:t>3명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맑은 고딕"/>
                        </a:defRPr>
                      </a:pPr>
                      <a:r>
                        <a:t>96.6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맑은 고딕"/>
                        </a:defRPr>
                      </a:pPr>
                      <a:r>
                        <a:t>10,121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맑은 고딕"/>
                        </a:defRPr>
                      </a:pPr>
                      <a:r>
                        <a:t>1,711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맑은 고딕"/>
                        </a:defRPr>
                      </a:pPr>
                      <a:r>
                        <a:t>23.3%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맑은 고딕"/>
                        </a:defRPr>
                      </a:pPr>
                      <a:r>
                        <a:t>RR-4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맑은 고딕"/>
                        </a:defRPr>
                      </a:pPr>
                      <a:r>
                        <a:t>4명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맑은 고딕"/>
                        </a:defRPr>
                      </a:pPr>
                      <a:r>
                        <a:t>118.8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맑은 고딕"/>
                        </a:defRPr>
                      </a:pPr>
                      <a:r>
                        <a:t>12,040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맑은 고딕"/>
                        </a:defRPr>
                      </a:pPr>
                      <a:r>
                        <a:t>1,942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맑은 고딕"/>
                        </a:defRPr>
                      </a:pPr>
                      <a:r>
                        <a:t>71.7%*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457200" y="2834640"/>
            <a:ext cx="73152" cy="1097280"/>
          </a:xfrm>
          <a:prstGeom prst="rect">
            <a:avLst/>
          </a:prstGeom>
          <a:solidFill>
            <a:srgbClr val="4E7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8346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E7CFF"/>
                </a:solidFill>
                <a:latin typeface="맑은 고딕"/>
              </a:defRPr>
            </a:pPr>
            <a:r>
              <a:t>발견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2834640"/>
            <a:ext cx="6675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2D2D"/>
                </a:solidFill>
                <a:latin typeface="맑은 고딕"/>
              </a:defRPr>
            </a:pPr>
            <a:r>
              <a:t>협력적 증폭 (Collaborative Amplification)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3200400"/>
            <a:ext cx="6675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88"/>
                </a:solidFill>
                <a:latin typeface="맑은 고딕"/>
              </a:defRPr>
            </a:pPr>
            <a:r>
              <a:t>호출당 출력 토큰 증가: rr2=930 → rr3=1,189 → rr4=1,544</a:t>
            </a:r>
            <a:br/>
            <a:r>
              <a:t>에이전트가 더 풍부한 컨텍스트에서 더 풍부한 응답 생성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4114800"/>
            <a:ext cx="73152" cy="109728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4114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9A7"/>
                </a:solidFill>
                <a:latin typeface="맑은 고딕"/>
              </a:defRPr>
            </a:pPr>
            <a:r>
              <a:t>발견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4114800"/>
            <a:ext cx="6675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2D2D"/>
                </a:solidFill>
                <a:latin typeface="맑은 고딕"/>
              </a:defRPr>
            </a:pPr>
            <a:r>
              <a:t>입력 토큰 초선형 증가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4480560"/>
            <a:ext cx="6675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88"/>
                </a:solidFill>
                <a:latin typeface="맑은 고딕"/>
              </a:defRPr>
            </a:pPr>
            <a:r>
              <a:t>입력 2.59배 증가 vs LLM호출 1.75배</a:t>
            </a:r>
            <a:br/>
            <a:r>
              <a:t>비용의 주 동인 = 각 에이전트가 전체 대화 이력을 읽는 것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5394960"/>
            <a:ext cx="73152" cy="109728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53949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6B6B"/>
                </a:solidFill>
                <a:latin typeface="맑은 고딕"/>
              </a:defRPr>
            </a:pPr>
            <a:r>
              <a:t>발견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5394960"/>
            <a:ext cx="6675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2D2D"/>
                </a:solidFill>
                <a:latin typeface="맑은 고딕"/>
              </a:defRPr>
            </a:pPr>
            <a:r>
              <a:t>오류율 초선형 증가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5760720"/>
            <a:ext cx="6675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88"/>
                </a:solidFill>
                <a:latin typeface="맑은 고딕"/>
              </a:defRPr>
            </a:pPr>
            <a:r>
              <a:t>rr2: 기술형만(8.3%) → rr3: 3개 범주(23.3%) → rr4: 전면 실패(71.7%)</a:t>
            </a:r>
            <a:br/>
            <a:r>
              <a:t>컨텍스트 축적이 팀 규모에 따라 한계 초과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63093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88888"/>
                </a:solidFill>
                <a:latin typeface="맑은 고딕"/>
              </a:defRPr>
            </a:pPr>
            <a:r>
              <a:t>6/12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D2D2D"/>
                </a:solidFill>
                <a:latin typeface="맑은 고딕"/>
              </a:defRPr>
            </a:pPr>
            <a:r>
              <a:t>범주 B: 동적 라우팅 (Selector / Swarm)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8229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188720"/>
                <a:gridCol w="1371600"/>
                <a:gridCol w="1097280"/>
                <a:gridCol w="1188720"/>
                <a:gridCol w="22860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패턴</a:t>
                      </a:r>
                    </a:p>
                  </a:txBody>
                  <a:tcPr anchor="ctr">
                    <a:solidFill>
                      <a:srgbClr val="4E7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시간(초)</a:t>
                      </a:r>
                    </a:p>
                  </a:txBody>
                  <a:tcPr anchor="ctr">
                    <a:solidFill>
                      <a:srgbClr val="4E7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총 토큰</a:t>
                      </a:r>
                    </a:p>
                  </a:txBody>
                  <a:tcPr anchor="ctr">
                    <a:solidFill>
                      <a:srgbClr val="4E7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턴 수</a:t>
                      </a:r>
                    </a:p>
                  </a:txBody>
                  <a:tcPr anchor="ctr">
                    <a:solidFill>
                      <a:srgbClr val="4E7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출력/턴</a:t>
                      </a:r>
                    </a:p>
                  </a:txBody>
                  <a:tcPr anchor="ctr">
                    <a:solidFill>
                      <a:srgbClr val="4E7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특징</a:t>
                      </a:r>
                    </a:p>
                  </a:txBody>
                  <a:tcPr anchor="ctr">
                    <a:solidFill>
                      <a:srgbClr val="4E7C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맑은 고딕"/>
                        </a:defRPr>
                      </a:pPr>
                      <a:r>
                        <a:t>Sel-3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맑은 고딕"/>
                        </a:defRPr>
                      </a:pPr>
                      <a:r>
                        <a:t>115.2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맑은 고딕"/>
                        </a:defRPr>
                      </a:pPr>
                      <a:r>
                        <a:t>7,851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맑은 고딕"/>
                        </a:defRPr>
                      </a:pPr>
                      <a:r>
                        <a:t>3.5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맑은 고딕"/>
                        </a:defRPr>
                      </a:pPr>
                      <a:r>
                        <a:t>2,114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맑은 고딕"/>
                        </a:defRPr>
                      </a:pPr>
                      <a:r>
                        <a:t>적은 턴 + 긴 독백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맑은 고딕"/>
                        </a:defRPr>
                      </a:pPr>
                      <a:r>
                        <a:t>Sel-4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맑은 고딕"/>
                        </a:defRPr>
                      </a:pPr>
                      <a:r>
                        <a:t>161.9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맑은 고딕"/>
                        </a:defRPr>
                      </a:pPr>
                      <a:r>
                        <a:t>11,595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맑은 고딕"/>
                        </a:defRPr>
                      </a:pPr>
                      <a:r>
                        <a:t>4.1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맑은 고딕"/>
                        </a:defRPr>
                      </a:pPr>
                      <a:r>
                        <a:t>2,616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맑은 고딕"/>
                        </a:defRPr>
                      </a:pPr>
                      <a:r>
                        <a:t>서브리니어 (1.48x)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맑은 고딕"/>
                        </a:defRPr>
                      </a:pPr>
                      <a:r>
                        <a:t>Swm-3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맑은 고딕"/>
                        </a:defRPr>
                      </a:pPr>
                      <a:r>
                        <a:t>75.2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맑은 고딕"/>
                        </a:defRPr>
                      </a:pPr>
                      <a:r>
                        <a:t>4,196 ★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맑은 고딕"/>
                        </a:defRPr>
                      </a:pPr>
                      <a:r>
                        <a:t>10.2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맑은 고딕"/>
                        </a:defRPr>
                      </a:pPr>
                      <a:r>
                        <a:t>337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맑은 고딕"/>
                        </a:defRPr>
                      </a:pPr>
                      <a:r>
                        <a:t>최고 효율!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맑은 고딕"/>
                        </a:defRPr>
                      </a:pPr>
                      <a:r>
                        <a:t>Swm-4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맑은 고딕"/>
                        </a:defRPr>
                      </a:pPr>
                      <a:r>
                        <a:t>185.0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맑은 고딕"/>
                        </a:defRPr>
                      </a:pPr>
                      <a:r>
                        <a:t>13,321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맑은 고딕"/>
                        </a:defRPr>
                      </a:pPr>
                      <a:r>
                        <a:t>25.0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맑은 고딕"/>
                        </a:defRPr>
                      </a:pPr>
                      <a:r>
                        <a:t>330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맑은 고딕"/>
                        </a:defRPr>
                      </a:pPr>
                      <a:r>
                        <a:t>턴 폭발 (3.17x)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457200" y="3200400"/>
            <a:ext cx="73152" cy="9144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2004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9A7"/>
                </a:solidFill>
                <a:latin typeface="맑은 고딕"/>
              </a:defRPr>
            </a:pPr>
            <a:r>
              <a:t>발견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3200400"/>
            <a:ext cx="6675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2D2D"/>
                </a:solidFill>
                <a:latin typeface="맑은 고딕"/>
              </a:defRPr>
            </a:pPr>
            <a:r>
              <a:t>두 라우팅 전략 = 완전히 다른 행동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3520440"/>
            <a:ext cx="6675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88"/>
                </a:solidFill>
                <a:latin typeface="맑은 고딕"/>
              </a:defRPr>
            </a:pPr>
            <a:r>
              <a:t>Selector: 적은 턴(3.5) + 긴 독백(2,100tok/턴) vs Swarm: 많은 턴(10) + 짧은 핸드오프(330tok/턴)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4297680"/>
            <a:ext cx="73152" cy="91440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42976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A500"/>
                </a:solidFill>
                <a:latin typeface="맑은 고딕"/>
              </a:defRPr>
            </a:pPr>
            <a:r>
              <a:t>발견 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4297680"/>
            <a:ext cx="6675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2D2D"/>
                </a:solidFill>
                <a:latin typeface="맑은 고딕"/>
              </a:defRPr>
            </a:pPr>
            <a:r>
              <a:t>스케일링 방향이 정반대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4617720"/>
            <a:ext cx="6675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88"/>
                </a:solidFill>
                <a:latin typeface="맑은 고딕"/>
              </a:defRPr>
            </a:pPr>
            <a:r>
              <a:t>Selector: 서브-리니어(1.48x/+1agent) vs Swarm: 슈퍼-리니어(3.17x/+1agent, 턴 폭발)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5394960"/>
            <a:ext cx="73152" cy="914400"/>
          </a:xfrm>
          <a:prstGeom prst="rect">
            <a:avLst/>
          </a:prstGeom>
          <a:solidFill>
            <a:srgbClr val="4E7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53949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E7CFF"/>
                </a:solidFill>
                <a:latin typeface="맑은 고딕"/>
              </a:defRPr>
            </a:pPr>
            <a:r>
              <a:t>발견 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5394960"/>
            <a:ext cx="6675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2D2D"/>
                </a:solidFill>
                <a:latin typeface="맑은 고딕"/>
              </a:defRPr>
            </a:pPr>
            <a:r>
              <a:t>Swm-3 = 전체 최고 토큰 효율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5715000"/>
            <a:ext cx="6675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88"/>
                </a:solidFill>
                <a:latin typeface="맑은 고딕"/>
              </a:defRPr>
            </a:pPr>
            <a:r>
              <a:t>3에이전트(4,196tok)가 2에이전트 RR-2(4,759tok)보다 12% 저렴! → 지능적 라우팅이 에이전트 추가 오버헤드를 상쇄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63093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88888"/>
                </a:solidFill>
                <a:latin typeface="맑은 고딕"/>
              </a:defRPr>
            </a:pPr>
            <a:r>
              <a:t>7/12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D2D2D"/>
                </a:solidFill>
                <a:latin typeface="맑은 고딕"/>
              </a:defRPr>
            </a:pPr>
            <a:r>
              <a:t>범주 C: 구조화 피드백 (Reflection / Debate)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8229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188720"/>
                <a:gridCol w="1371600"/>
                <a:gridCol w="1097280"/>
                <a:gridCol w="1188720"/>
                <a:gridCol w="22860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패턴</a:t>
                      </a:r>
                    </a:p>
                  </a:txBody>
                  <a:tcPr anchor="ctr">
                    <a:solidFill>
                      <a:srgbClr val="4E7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시간(초)</a:t>
                      </a:r>
                    </a:p>
                  </a:txBody>
                  <a:tcPr anchor="ctr">
                    <a:solidFill>
                      <a:srgbClr val="4E7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총 토큰</a:t>
                      </a:r>
                    </a:p>
                  </a:txBody>
                  <a:tcPr anchor="ctr">
                    <a:solidFill>
                      <a:srgbClr val="4E7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턴 수</a:t>
                      </a:r>
                    </a:p>
                  </a:txBody>
                  <a:tcPr anchor="ctr">
                    <a:solidFill>
                      <a:srgbClr val="4E7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출력/턴</a:t>
                      </a:r>
                    </a:p>
                  </a:txBody>
                  <a:tcPr anchor="ctr">
                    <a:solidFill>
                      <a:srgbClr val="4E7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특징</a:t>
                      </a:r>
                    </a:p>
                  </a:txBody>
                  <a:tcPr anchor="ctr">
                    <a:solidFill>
                      <a:srgbClr val="4E7C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맑은 고딕"/>
                        </a:defRPr>
                      </a:pPr>
                      <a:r>
                        <a:t>Refl-2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맑은 고딕"/>
                        </a:defRPr>
                      </a:pPr>
                      <a:r>
                        <a:t>60.2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맑은 고딕"/>
                        </a:defRPr>
                      </a:pPr>
                      <a:r>
                        <a:t>5,237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맑은 고딕"/>
                        </a:defRPr>
                      </a:pPr>
                      <a:r>
                        <a:t>3.2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맑은 고딕"/>
                        </a:defRPr>
                      </a:pPr>
                      <a:r>
                        <a:t>1,732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맑은 고딕"/>
                        </a:defRPr>
                      </a:pPr>
                      <a:r>
                        <a:t>2위 효율 + 품질검증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맑은 고딕"/>
                        </a:defRPr>
                      </a:pPr>
                      <a:r>
                        <a:t>Refl-3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맑은 고딕"/>
                        </a:defRPr>
                      </a:pPr>
                      <a:r>
                        <a:t>120.2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맑은 고딕"/>
                        </a:defRPr>
                      </a:pPr>
                      <a:r>
                        <a:t>12,095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맑은 고딕"/>
                        </a:defRPr>
                      </a:pPr>
                      <a:r>
                        <a:t>4.5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맑은 고딕"/>
                        </a:defRPr>
                      </a:pPr>
                      <a:r>
                        <a:t>2,537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맑은 고딕"/>
                        </a:defRPr>
                      </a:pPr>
                      <a:r>
                        <a:t>슈퍼리니어 (2.31x)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맑은 고딕"/>
                        </a:defRPr>
                      </a:pPr>
                      <a:r>
                        <a:t>Deb-3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맑은 고딕"/>
                        </a:defRPr>
                      </a:pPr>
                      <a:r>
                        <a:t>156.6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맑은 고딕"/>
                        </a:defRPr>
                      </a:pPr>
                      <a:r>
                        <a:t>9,313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맑은 고딕"/>
                        </a:defRPr>
                      </a:pPr>
                      <a:r>
                        <a:t>4.5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맑은 고딕"/>
                        </a:defRPr>
                      </a:pPr>
                      <a:r>
                        <a:t>1,691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맑은 고딕"/>
                        </a:defRPr>
                      </a:pPr>
                      <a:r>
                        <a:t>토론 → 서브리니어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맑은 고딕"/>
                        </a:defRPr>
                      </a:pPr>
                      <a:r>
                        <a:t>Deb-4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맑은 고딕"/>
                        </a:defRPr>
                      </a:pPr>
                      <a:r>
                        <a:t>180.9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맑은 고딕"/>
                        </a:defRPr>
                      </a:pPr>
                      <a:r>
                        <a:t>11,637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맑은 고딕"/>
                        </a:defRPr>
                      </a:pPr>
                      <a:r>
                        <a:t>5.4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맑은 고딕"/>
                        </a:defRPr>
                      </a:pPr>
                      <a:r>
                        <a:t>1,448 ↓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맑은 고딕"/>
                        </a:defRPr>
                      </a:pPr>
                      <a:r>
                        <a:t>수확체감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457200" y="3200400"/>
            <a:ext cx="73152" cy="91440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2004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A500"/>
                </a:solidFill>
                <a:latin typeface="맑은 고딕"/>
              </a:defRPr>
            </a:pPr>
            <a:r>
              <a:t>발견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3200400"/>
            <a:ext cx="6675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2D2D"/>
                </a:solidFill>
                <a:latin typeface="맑은 고딕"/>
              </a:defRPr>
            </a:pPr>
            <a:r>
              <a:t>반성과 토론의 스케일링이 정반대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3520440"/>
            <a:ext cx="6675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88"/>
                </a:solidFill>
                <a:latin typeface="맑은 고딕"/>
              </a:defRPr>
            </a:pPr>
            <a:r>
              <a:t>반성: 슈퍼-리니어(2.31x) — 비평이 전체 이력 리뷰  |  토론: 서브-리니어(1.25x) — 중재자가 오버헤드 흡수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4297680"/>
            <a:ext cx="73152" cy="9144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42976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9A7"/>
                </a:solidFill>
                <a:latin typeface="맑은 고딕"/>
              </a:defRPr>
            </a:pPr>
            <a:r>
              <a:t>발견 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4297680"/>
            <a:ext cx="6675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2D2D"/>
                </a:solidFill>
                <a:latin typeface="맑은 고딕"/>
              </a:defRPr>
            </a:pPr>
            <a:r>
              <a:t>Refl-2 = 최소 비용으로 품질 검증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4617720"/>
            <a:ext cx="6675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88"/>
                </a:solidFill>
                <a:latin typeface="맑은 고딕"/>
              </a:defRPr>
            </a:pPr>
            <a:r>
              <a:t>RR-2(4,759)보다 10%만 비쌈(5,237). 하지만 비평가의 구조화된 품질 검증 루프를 포함 → 품질 보증이 필요할 때 최적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5394960"/>
            <a:ext cx="73152" cy="9144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53949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6B6B"/>
                </a:solidFill>
                <a:latin typeface="맑은 고딕"/>
              </a:defRPr>
            </a:pPr>
            <a:r>
              <a:t>발견 11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5394960"/>
            <a:ext cx="6675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2D2D"/>
                </a:solidFill>
                <a:latin typeface="맑은 고딕"/>
              </a:defRPr>
            </a:pPr>
            <a:r>
              <a:t>Debate에서 팀 성장 시 에이전트당 출력 감소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5715000"/>
            <a:ext cx="6675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88"/>
                </a:solidFill>
                <a:latin typeface="맑은 고딕"/>
              </a:defRPr>
            </a:pPr>
            <a:r>
              <a:t>deb3=1,691 → deb4=1,448 (0.86x). Cat A의 '협력적 증폭'과 정반대 → 토론 구조가 발언량을 자연적으로 제약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63093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88888"/>
                </a:solidFill>
                <a:latin typeface="맑은 고딕"/>
              </a:defRPr>
            </a:pPr>
            <a:r>
              <a:t>8/12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D2D2D"/>
                </a:solidFill>
                <a:latin typeface="맑은 고딕"/>
              </a:defRPr>
            </a:pPr>
            <a:r>
              <a:t>범주 D + 교차 범주 효율 랭킹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3840480" cy="1828800"/>
          </a:xfrm>
          <a:prstGeom prst="roundRect">
            <a:avLst/>
          </a:prstGeom>
          <a:solidFill>
            <a:srgbClr val="F5F5FA"/>
          </a:solidFill>
          <a:ln w="12700">
            <a:solidFill>
              <a:srgbClr val="E0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6B6B"/>
                </a:solidFill>
                <a:latin typeface="맑은 고딕"/>
              </a:defRPr>
            </a:pPr>
            <a:r>
              <a:t>범주 D: 복합/중첩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맑은 고딕"/>
              </a:defRPr>
            </a:pPr>
            <a:r>
              <a:t>• Pipe: 129.6초, 13,856 토큰, 2,325 out/턴</a:t>
            </a:r>
          </a:p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맑은 고딕"/>
              </a:defRPr>
            </a:pPr>
            <a:r>
              <a:t>  → 턴당 출력 최고, 가장 비쌈</a:t>
            </a:r>
          </a:p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맑은 고딕"/>
              </a:defRPr>
            </a:pPr>
            <a:r>
              <a:t>  → tech 과제 19,223 tok (극단적 비용)</a:t>
            </a:r>
          </a:p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맑은 고딕"/>
              </a:defRPr>
            </a:pPr>
            <a:r>
              <a:t>• MoA: 3명 병렬 제안 → 1명 집약</a:t>
            </a:r>
          </a:p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맑은 고딕"/>
              </a:defRPr>
            </a:pPr>
            <a:r>
              <a:t>  → 현재 실행 중 (에러 0%)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0972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D2D2D"/>
                </a:solidFill>
                <a:latin typeface="맑은 고딕"/>
              </a:defRPr>
            </a:pPr>
            <a:r>
              <a:t>토큰 효율 랭킹 (TOP 5)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0" y="1554480"/>
          <a:ext cx="41148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1097280"/>
                <a:gridCol w="1097280"/>
                <a:gridCol w="1188720"/>
              </a:tblGrid>
              <a:tr h="33528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순위</a:t>
                      </a:r>
                    </a:p>
                  </a:txBody>
                  <a:tcPr anchor="ctr">
                    <a:solidFill>
                      <a:srgbClr val="4E7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패턴</a:t>
                      </a:r>
                    </a:p>
                  </a:txBody>
                  <a:tcPr anchor="ctr">
                    <a:solidFill>
                      <a:srgbClr val="4E7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범주</a:t>
                      </a:r>
                    </a:p>
                  </a:txBody>
                  <a:tcPr anchor="ctr">
                    <a:solidFill>
                      <a:srgbClr val="4E7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토큰</a:t>
                      </a:r>
                    </a:p>
                  </a:txBody>
                  <a:tcPr anchor="ctr">
                    <a:solidFill>
                      <a:srgbClr val="4E7C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맑은 고딕"/>
                        </a:defRPr>
                      </a:pPr>
                      <a:r>
                        <a:t>1위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맑은 고딕"/>
                        </a:defRPr>
                      </a:pPr>
                      <a:r>
                        <a:t>Swm-3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맑은 고딕"/>
                        </a:defRPr>
                      </a:pPr>
                      <a:r>
                        <a:t>B (동적)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맑은 고딕"/>
                        </a:defRPr>
                      </a:pPr>
                      <a:r>
                        <a:t>4,196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맑은 고딕"/>
                        </a:defRPr>
                      </a:pPr>
                      <a:r>
                        <a:t>2위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맑은 고딕"/>
                        </a:defRPr>
                      </a:pPr>
                      <a:r>
                        <a:t>RR-2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맑은 고딕"/>
                        </a:defRPr>
                      </a:pPr>
                      <a:r>
                        <a:t>A (순차)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맑은 고딕"/>
                        </a:defRPr>
                      </a:pPr>
                      <a:r>
                        <a:t>4,759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맑은 고딕"/>
                        </a:defRPr>
                      </a:pPr>
                      <a:r>
                        <a:t>3위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맑은 고딕"/>
                        </a:defRPr>
                      </a:pPr>
                      <a:r>
                        <a:t>Refl-2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맑은 고딕"/>
                        </a:defRPr>
                      </a:pPr>
                      <a:r>
                        <a:t>C (피드백)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맑은 고딕"/>
                        </a:defRPr>
                      </a:pPr>
                      <a:r>
                        <a:t>5,237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맑은 고딕"/>
                        </a:defRPr>
                      </a:pPr>
                      <a:r>
                        <a:t>4위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맑은 고딕"/>
                        </a:defRPr>
                      </a:pPr>
                      <a:r>
                        <a:t>Sel-3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맑은 고딕"/>
                        </a:defRPr>
                      </a:pPr>
                      <a:r>
                        <a:t>B (동적)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맑은 고딕"/>
                        </a:defRPr>
                      </a:pPr>
                      <a:r>
                        <a:t>7,851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맑은 고딕"/>
                        </a:defRPr>
                      </a:pPr>
                      <a:r>
                        <a:t>5위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맑은 고딕"/>
                        </a:defRPr>
                      </a:pPr>
                      <a:r>
                        <a:t>Deb-3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맑은 고딕"/>
                        </a:defRPr>
                      </a:pPr>
                      <a:r>
                        <a:t>C (피드백)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맑은 고딕"/>
                        </a:defRPr>
                      </a:pPr>
                      <a:r>
                        <a:t>9,313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457200" y="3200400"/>
            <a:ext cx="8229600" cy="109728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4E7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291840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E7CFF"/>
                </a:solidFill>
                <a:latin typeface="맑은 고딕"/>
              </a:defRPr>
            </a:pPr>
            <a:r>
              <a:t>핵심 인사이트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749039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2D2D2D"/>
                </a:solidFill>
                <a:latin typeface="맑은 고딕"/>
              </a:defRPr>
            </a:pPr>
            <a:r>
              <a:t>• 토폴로지 선택이 에이전트 수보다 효율에 더 큰 영향 — Swm-3(3명)이 RR-2(2명)보다 저렴</a:t>
            </a:r>
          </a:p>
          <a:p>
            <a:pPr>
              <a:spcAft>
                <a:spcPts val="600"/>
              </a:spcAft>
              <a:defRPr sz="1200">
                <a:solidFill>
                  <a:srgbClr val="2D2D2D"/>
                </a:solidFill>
                <a:latin typeface="맑은 고딕"/>
              </a:defRPr>
            </a:pPr>
            <a:r>
              <a:t>• 동일 에이전트 수에서도 라우팅 전략에 따라 3배 이상 비용 차이 (swm3=4,196 vs refl3=12,095)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572000"/>
            <a:ext cx="8229600" cy="1828800"/>
          </a:xfrm>
          <a:prstGeom prst="roundRect">
            <a:avLst/>
          </a:prstGeom>
          <a:solidFill>
            <a:srgbClr val="F5F5FA"/>
          </a:solidFill>
          <a:ln w="12700">
            <a:solidFill>
              <a:srgbClr val="E0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663440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D2D2D"/>
                </a:solidFill>
                <a:latin typeface="맑은 고딕"/>
              </a:defRPr>
            </a:pPr>
            <a:r>
              <a:t>스케일링 행동 요약 (+1 에이전트 추가 시)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457200" y="5029200"/>
          <a:ext cx="82296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371600"/>
                <a:gridCol w="3200400"/>
              </a:tblGrid>
              <a:tr h="2286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토폴로지</a:t>
                      </a:r>
                    </a:p>
                  </a:txBody>
                  <a:tcPr anchor="ctr">
                    <a:solidFill>
                      <a:srgbClr val="4E7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스케일링</a:t>
                      </a:r>
                    </a:p>
                  </a:txBody>
                  <a:tcPr anchor="ctr">
                    <a:solidFill>
                      <a:srgbClr val="4E7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배수</a:t>
                      </a:r>
                    </a:p>
                  </a:txBody>
                  <a:tcPr anchor="ctr">
                    <a:solidFill>
                      <a:srgbClr val="4E7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원인</a:t>
                      </a:r>
                    </a:p>
                  </a:txBody>
                  <a:tcPr anchor="ctr">
                    <a:solidFill>
                      <a:srgbClr val="4E7C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2D2D"/>
                          </a:solidFill>
                          <a:latin typeface="맑은 고딕"/>
                        </a:defRPr>
                      </a:pPr>
                      <a:r>
                        <a:t>RR (순차)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2D2D"/>
                          </a:solidFill>
                          <a:latin typeface="맑은 고딕"/>
                        </a:defRPr>
                      </a:pPr>
                      <a:r>
                        <a:t>준선형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2D2D"/>
                          </a:solidFill>
                          <a:latin typeface="맑은 고딕"/>
                        </a:defRPr>
                      </a:pPr>
                      <a:r>
                        <a:t>~2.0x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2D2D"/>
                          </a:solidFill>
                          <a:latin typeface="맑은 고딕"/>
                        </a:defRPr>
                      </a:pPr>
                      <a:r>
                        <a:t>전체 이력 복사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2D2D"/>
                          </a:solidFill>
                          <a:latin typeface="맑은 고딕"/>
                        </a:defRPr>
                      </a:pPr>
                      <a:r>
                        <a:t>Selector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2D2D"/>
                          </a:solidFill>
                          <a:latin typeface="맑은 고딕"/>
                        </a:defRPr>
                      </a:pPr>
                      <a:r>
                        <a:t>서브-리니어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2D2D"/>
                          </a:solidFill>
                          <a:latin typeface="맑은 고딕"/>
                        </a:defRPr>
                      </a:pPr>
                      <a:r>
                        <a:t>1.48x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2D2D"/>
                          </a:solidFill>
                          <a:latin typeface="맑은 고딕"/>
                        </a:defRPr>
                      </a:pPr>
                      <a:r>
                        <a:t>라우팅 효율화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2D2D"/>
                          </a:solidFill>
                          <a:latin typeface="맑은 고딕"/>
                        </a:defRPr>
                      </a:pPr>
                      <a:r>
                        <a:t>Swarm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2D2D"/>
                          </a:solidFill>
                          <a:latin typeface="맑은 고딕"/>
                        </a:defRPr>
                      </a:pPr>
                      <a:r>
                        <a:t>슈퍼-리니어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2D2D"/>
                          </a:solidFill>
                          <a:latin typeface="맑은 고딕"/>
                        </a:defRPr>
                      </a:pPr>
                      <a:r>
                        <a:t>3.17x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2D2D"/>
                          </a:solidFill>
                          <a:latin typeface="맑은 고딕"/>
                        </a:defRPr>
                      </a:pPr>
                      <a:r>
                        <a:t>턴 수 폭발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2D2D"/>
                          </a:solidFill>
                          <a:latin typeface="맑은 고딕"/>
                        </a:defRPr>
                      </a:pPr>
                      <a:r>
                        <a:t>Reflection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2D2D"/>
                          </a:solidFill>
                          <a:latin typeface="맑은 고딕"/>
                        </a:defRPr>
                      </a:pPr>
                      <a:r>
                        <a:t>슈퍼-리니어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2D2D"/>
                          </a:solidFill>
                          <a:latin typeface="맑은 고딕"/>
                        </a:defRPr>
                      </a:pPr>
                      <a:r>
                        <a:t>2.31x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2D2D"/>
                          </a:solidFill>
                          <a:latin typeface="맑은 고딕"/>
                        </a:defRPr>
                      </a:pPr>
                      <a:r>
                        <a:t>이력 누적 리뷰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2D2D"/>
                          </a:solidFill>
                          <a:latin typeface="맑은 고딕"/>
                        </a:defRPr>
                      </a:pPr>
                      <a:r>
                        <a:t>Debate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2D2D"/>
                          </a:solidFill>
                          <a:latin typeface="맑은 고딕"/>
                        </a:defRPr>
                      </a:pPr>
                      <a:r>
                        <a:t>서브-리니어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2D2D"/>
                          </a:solidFill>
                          <a:latin typeface="맑은 고딕"/>
                        </a:defRPr>
                      </a:pPr>
                      <a:r>
                        <a:t>1.25x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2D2D"/>
                          </a:solidFill>
                          <a:latin typeface="맑은 고딕"/>
                        </a:defRPr>
                      </a:pPr>
                      <a:r>
                        <a:t>중재자 흡수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8046720" y="63093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88888"/>
                </a:solidFill>
                <a:latin typeface="맑은 고딕"/>
              </a:defRPr>
            </a:pPr>
            <a:r>
              <a:t>9/12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D2D2D"/>
                </a:solidFill>
                <a:latin typeface="맑은 고딕"/>
              </a:defRPr>
            </a:pPr>
            <a:r>
              <a:t>오리지널 기여: 효용 기반 적응적 종료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1097280"/>
            <a:ext cx="6400800" cy="128016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54480" y="1234440"/>
            <a:ext cx="6035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4E7CFF"/>
                </a:solidFill>
                <a:latin typeface="맑은 고딕"/>
              </a:defRPr>
            </a:pPr>
            <a:r>
              <a:t>U(t) = Q(t) - λ · C(t)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1828800"/>
            <a:ext cx="603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맑은 고딕"/>
              </a:defRPr>
            </a:pPr>
            <a:r>
              <a:t>종료 조건:  U(t) &lt; U(t-1)  →  한계비용 &gt; 한계품질이득  →  멈춤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65176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2D2D2D"/>
                </a:solidFill>
                <a:latin typeface="맑은 고딕"/>
              </a:defRPr>
            </a:pPr>
            <a:r>
              <a:t>Q(t) : 턴 t에서의 품질 (G-Eval 5차원)</a:t>
            </a:r>
          </a:p>
          <a:p>
            <a:pPr>
              <a:spcAft>
                <a:spcPts val="600"/>
              </a:spcAft>
              <a:defRPr sz="1200">
                <a:solidFill>
                  <a:srgbClr val="2D2D2D"/>
                </a:solidFill>
                <a:latin typeface="맑은 고딕"/>
              </a:defRPr>
            </a:pPr>
            <a:r>
              <a:t>C(t) : 누적 토큰 비용 (정규화)</a:t>
            </a:r>
          </a:p>
          <a:p>
            <a:pPr>
              <a:spcAft>
                <a:spcPts val="600"/>
              </a:spcAft>
              <a:defRPr sz="1200">
                <a:solidFill>
                  <a:srgbClr val="2D2D2D"/>
                </a:solidFill>
                <a:latin typeface="맑은 고딕"/>
              </a:defRPr>
            </a:pPr>
            <a:r>
              <a:t>λ    : 품질-비용 트레이드오프 계수</a:t>
            </a:r>
          </a:p>
          <a:p>
            <a:pPr>
              <a:spcAft>
                <a:spcPts val="600"/>
              </a:spcAft>
              <a:defRPr sz="1200">
                <a:solidFill>
                  <a:srgbClr val="2D2D2D"/>
                </a:solidFill>
                <a:latin typeface="맑은 고딕"/>
              </a:defRPr>
            </a:pPr>
            <a:r>
              <a:t>       → 토폴로지별 다르게 튜닝 (핵심!)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0" y="2651760"/>
          <a:ext cx="41148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1097280"/>
                <a:gridCol w="1005840"/>
                <a:gridCol w="109728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</a:p>
                  </a:txBody>
                  <a:tcPr anchor="ctr">
                    <a:solidFill>
                      <a:srgbClr val="9B59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REFRAIN</a:t>
                      </a:r>
                    </a:p>
                  </a:txBody>
                  <a:tcPr anchor="ctr">
                    <a:solidFill>
                      <a:srgbClr val="9B59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Aegean</a:t>
                      </a:r>
                    </a:p>
                  </a:txBody>
                  <a:tcPr anchor="ctr">
                    <a:solidFill>
                      <a:srgbClr val="9B59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본 연구</a:t>
                      </a:r>
                    </a:p>
                  </a:txBody>
                  <a:tcPr anchor="ctr">
                    <a:solidFill>
                      <a:srgbClr val="9B59B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2D2D"/>
                          </a:solidFill>
                          <a:latin typeface="맑은 고딕"/>
                        </a:defRPr>
                      </a:pPr>
                      <a:r>
                        <a:t>대상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2D2D"/>
                          </a:solidFill>
                          <a:latin typeface="맑은 고딕"/>
                        </a:defRPr>
                      </a:pPr>
                      <a:r>
                        <a:t>단일 에이전트 CoT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2D2D"/>
                          </a:solidFill>
                          <a:latin typeface="맑은 고딕"/>
                        </a:defRPr>
                      </a:pPr>
                      <a:r>
                        <a:t>병렬 합의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2D2D"/>
                          </a:solidFill>
                          <a:latin typeface="맑은 고딕"/>
                        </a:defRPr>
                      </a:pPr>
                      <a:r>
                        <a:t>13개 토폴로지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2D2D"/>
                          </a:solidFill>
                          <a:latin typeface="맑은 고딕"/>
                        </a:defRPr>
                      </a:pPr>
                      <a:r>
                        <a:t>방법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2D2D"/>
                          </a:solidFill>
                          <a:latin typeface="맑은 고딕"/>
                        </a:defRPr>
                      </a:pPr>
                      <a:r>
                        <a:t>판별기 + UCB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2D2D"/>
                          </a:solidFill>
                          <a:latin typeface="맑은 고딕"/>
                        </a:defRPr>
                      </a:pPr>
                      <a:r>
                        <a:t>쿼럼 감지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2D2D"/>
                          </a:solidFill>
                          <a:latin typeface="맑은 고딕"/>
                        </a:defRPr>
                      </a:pPr>
                      <a:r>
                        <a:t>효용함수 U(t)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2D2D"/>
                          </a:solidFill>
                          <a:latin typeface="맑은 고딕"/>
                        </a:defRPr>
                      </a:pPr>
                      <a:r>
                        <a:t>λ 처리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2D2D"/>
                          </a:solidFill>
                          <a:latin typeface="맑은 고딕"/>
                        </a:defRPr>
                      </a:pPr>
                      <a:r>
                        <a:t>고정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2D2D"/>
                          </a:solidFill>
                          <a:latin typeface="맑은 고딕"/>
                        </a:defRPr>
                      </a:pPr>
                      <a:r>
                        <a:t>해당없음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2D2D"/>
                          </a:solidFill>
                          <a:latin typeface="맑은 고딕"/>
                        </a:defRPr>
                      </a:pPr>
                      <a:r>
                        <a:t>토폴로지 인식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2D2D"/>
                          </a:solidFill>
                          <a:latin typeface="맑은 고딕"/>
                        </a:defRPr>
                      </a:pPr>
                      <a:r>
                        <a:t>실험 규모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2D2D"/>
                          </a:solidFill>
                          <a:latin typeface="맑은 고딕"/>
                        </a:defRPr>
                      </a:pPr>
                      <a:r>
                        <a:t>1 설정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2D2D"/>
                          </a:solidFill>
                          <a:latin typeface="맑은 고딕"/>
                        </a:defRPr>
                      </a:pPr>
                      <a:r>
                        <a:t>1 설정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2D2D"/>
                          </a:solidFill>
                          <a:latin typeface="맑은 고딕"/>
                        </a:defRPr>
                      </a:pPr>
                      <a:r>
                        <a:t>13 패턴 × 5λ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457200" y="4754880"/>
            <a:ext cx="8229600" cy="164592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9B59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4846320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9B59B6"/>
                </a:solidFill>
                <a:latin typeface="맑은 고딕"/>
              </a:defRPr>
            </a:pPr>
            <a:r>
              <a:t>토폴로지 인식 λ 튜닝 — 왜 중요한가?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303520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맑은 고딕"/>
              </a:defRPr>
            </a:pPr>
            <a:r>
              <a:t>• 피드백 패턴 (Cat C): 높은 λ 허용 → 자연 수렴 신호가 있어 일찍 멈춰도 품질 유지</a:t>
            </a:r>
          </a:p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맑은 고딕"/>
              </a:defRPr>
            </a:pPr>
            <a:r>
              <a:t>• 순차 패턴 (Cat A): 낮은 λ 필요 → 수렴 신호 없어 조기 종료 시 품질 손실</a:t>
            </a:r>
          </a:p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맑은 고딕"/>
              </a:defRPr>
            </a:pPr>
            <a:r>
              <a:t>• 동적 라우팅 (Cat B): 중간 λ → 조정자 오버헤드를 비용에 포함해야 공정</a:t>
            </a:r>
          </a:p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맑은 고딕"/>
              </a:defRPr>
            </a:pPr>
            <a:r>
              <a:t>→ 하나의 λ로 모든 토폴로지를 커버할 수 없음 = 토폴로지 인식의 필요성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0" y="63093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88888"/>
                </a:solidFill>
                <a:latin typeface="맑은 고딕"/>
              </a:defRPr>
            </a:pPr>
            <a:r>
              <a:t>10/12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E7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D2D2D"/>
                </a:solidFill>
                <a:latin typeface="맑은 고딕"/>
              </a:defRPr>
            </a:pPr>
            <a:r>
              <a:t>투고 전략 &amp; 향후 일정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3840480" cy="182880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4E7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E7CFF"/>
                </a:solidFill>
                <a:latin typeface="맑은 고딕"/>
              </a:defRPr>
            </a:pPr>
            <a:r>
              <a:t>1순위: COLM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맑은 고딕"/>
              </a:defRPr>
            </a:pPr>
            <a:r>
              <a:t>• Abstract 마감: 2026-03-26</a:t>
            </a:r>
          </a:p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맑은 고딕"/>
              </a:defRPr>
            </a:pPr>
            <a:r>
              <a:t>• Full paper 마감: 2026-03-31</a:t>
            </a:r>
          </a:p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맑은 고딕"/>
              </a:defRPr>
            </a:pPr>
            <a:r>
              <a:t>• ML 시스템 특화 학회</a:t>
            </a:r>
          </a:p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맑은 고딕"/>
              </a:defRPr>
            </a:pPr>
            <a:r>
              <a:t>• 멀티에이전트 논문 수용적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46320" y="1097280"/>
            <a:ext cx="3840480" cy="1828800"/>
          </a:xfrm>
          <a:prstGeom prst="roundRect">
            <a:avLst/>
          </a:prstGeom>
          <a:solidFill>
            <a:srgbClr val="F5F5FA"/>
          </a:solidFill>
          <a:ln w="12700">
            <a:solidFill>
              <a:srgbClr val="E0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0" y="11887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D2D2D"/>
                </a:solidFill>
                <a:latin typeface="맑은 고딕"/>
              </a:defRPr>
            </a:pPr>
            <a:r>
              <a:t>보험: ACL 2026 Workshops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1645920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맑은 고딕"/>
              </a:defRPr>
            </a:pPr>
            <a:r>
              <a:t>• Direct submission: 2026-03-05</a:t>
            </a:r>
          </a:p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맑은 고딕"/>
              </a:defRPr>
            </a:pPr>
            <a:r>
              <a:t>• 빠른 1차 발표 기회 확보</a:t>
            </a:r>
          </a:p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맑은 고딕"/>
              </a:defRPr>
            </a:pPr>
            <a:r>
              <a:t>• 워크숍 = 진행중 연구 수용</a:t>
            </a:r>
          </a:p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맑은 고딕"/>
              </a:defRPr>
            </a:pPr>
            <a:r>
              <a:t>• 국내 학회 동시 투고 가능?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2004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D2D2D"/>
                </a:solidFill>
                <a:latin typeface="맑은 고딕"/>
              </a:defRPr>
            </a:pPr>
            <a:r>
              <a:t>예상 일정 (COLM 기준)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57200" y="3657600"/>
          <a:ext cx="8229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4572000"/>
                <a:gridCol w="1828800"/>
              </a:tblGrid>
              <a:tr h="3429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기간</a:t>
                      </a:r>
                    </a:p>
                  </a:txBody>
                  <a:tcPr anchor="ctr">
                    <a:solidFill>
                      <a:srgbClr val="4E7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작업</a:t>
                      </a:r>
                    </a:p>
                  </a:txBody>
                  <a:tcPr anchor="ctr">
                    <a:solidFill>
                      <a:srgbClr val="4E7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상태</a:t>
                      </a:r>
                    </a:p>
                  </a:txBody>
                  <a:tcPr anchor="ctr">
                    <a:solidFill>
                      <a:srgbClr val="4E7C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맑은 고딕"/>
                        </a:defRPr>
                      </a:pPr>
                      <a:r>
                        <a:t>2/11-14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맑은 고딕"/>
                        </a:defRPr>
                      </a:pPr>
                      <a:r>
                        <a:t>exp01 완료 (moa) + 전체 merge + 분석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맑은 고딕"/>
                        </a:defRPr>
                      </a:pPr>
                      <a:r>
                        <a:t>진행중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맑은 고딕"/>
                        </a:defRPr>
                      </a:pPr>
                      <a:r>
                        <a:t>2/15-18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맑은 고딕"/>
                        </a:defRPr>
                      </a:pPr>
                      <a:r>
                        <a:t>exp02 (품질 궤적) + exp05 (적응적 종료)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맑은 고딕"/>
                        </a:defRPr>
                      </a:pPr>
                      <a:r>
                        <a:t>대기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맑은 고딕"/>
                        </a:defRPr>
                      </a:pPr>
                      <a:r>
                        <a:t>2/19-25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맑은 고딕"/>
                        </a:defRPr>
                      </a:pPr>
                      <a:r>
                        <a:t>전체 분석 + 그래프 + 논문 수정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맑은 고딕"/>
                        </a:defRPr>
                      </a:pPr>
                      <a:r>
                        <a:t>대기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맑은 고딕"/>
                        </a:defRPr>
                      </a:pPr>
                      <a:r>
                        <a:t>2/26-3/5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맑은 고딕"/>
                        </a:defRPr>
                      </a:pPr>
                      <a:r>
                        <a:t>ACL Workshop 제출 가능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맑은 고딕"/>
                        </a:defRPr>
                      </a:pPr>
                      <a:r>
                        <a:t>대기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맑은 고딕"/>
                        </a:defRPr>
                      </a:pPr>
                      <a:r>
                        <a:t>3/6-25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맑은 고딕"/>
                        </a:defRPr>
                      </a:pPr>
                      <a:r>
                        <a:t>추가 실험 + 논문 정제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맑은 고딕"/>
                        </a:defRPr>
                      </a:pPr>
                      <a:r>
                        <a:t>대기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맑은 고딕"/>
                        </a:defRPr>
                      </a:pPr>
                      <a:r>
                        <a:t>3/26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맑은 고딕"/>
                        </a:defRPr>
                      </a:pPr>
                      <a:r>
                        <a:t>COLM Abstract 제출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맑은 고딕"/>
                        </a:defRPr>
                      </a:pPr>
                      <a:r>
                        <a:t>목표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맑은 고딕"/>
                        </a:defRPr>
                      </a:pPr>
                      <a:r>
                        <a:t>3/31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맑은 고딕"/>
                        </a:defRPr>
                      </a:pPr>
                      <a:r>
                        <a:t>COLM Full Paper 제출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맑은 고딕"/>
                        </a:defRPr>
                      </a:pPr>
                      <a:r>
                        <a:t>목표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8046720" y="63093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88888"/>
                </a:solidFill>
                <a:latin typeface="맑은 고딕"/>
              </a:defRPr>
            </a:pPr>
            <a:r>
              <a:t>11/12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731520"/>
            <a:ext cx="73152" cy="914400"/>
          </a:xfrm>
          <a:prstGeom prst="rect">
            <a:avLst/>
          </a:prstGeom>
          <a:solidFill>
            <a:srgbClr val="4E7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맑은 고딕"/>
              </a:defRPr>
            </a:pPr>
            <a:r>
              <a:t>논의 포인트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28016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88"/>
                </a:solidFill>
                <a:latin typeface="맑은 고딕"/>
              </a:defRPr>
            </a:pPr>
            <a:r>
              <a:t>교수님과 함께 결정해야 할 사항</a:t>
            </a:r>
          </a:p>
        </p:txBody>
      </p:sp>
      <p:sp>
        <p:nvSpPr>
          <p:cNvPr id="5" name="Oval 4"/>
          <p:cNvSpPr/>
          <p:nvPr/>
        </p:nvSpPr>
        <p:spPr>
          <a:xfrm>
            <a:off x="914400" y="2057400"/>
            <a:ext cx="411480" cy="411480"/>
          </a:xfrm>
          <a:prstGeom prst="ellipse">
            <a:avLst/>
          </a:prstGeom>
          <a:solidFill>
            <a:srgbClr val="4E7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Q1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20116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투고처 우선순위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20116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  <a:latin typeface="맑은 고딕"/>
              </a:defRPr>
            </a:pPr>
            <a:r>
              <a:t>COLM 2026 (메인) vs ACL Workshop (보험) — 어디를 우선할까요?</a:t>
            </a:r>
          </a:p>
        </p:txBody>
      </p:sp>
      <p:sp>
        <p:nvSpPr>
          <p:cNvPr id="8" name="Oval 7"/>
          <p:cNvSpPr/>
          <p:nvPr/>
        </p:nvSpPr>
        <p:spPr>
          <a:xfrm>
            <a:off x="914400" y="2971800"/>
            <a:ext cx="411480" cy="411480"/>
          </a:xfrm>
          <a:prstGeom prst="ellipse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Q2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9260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실험 범위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29260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  <a:latin typeface="맑은 고딕"/>
              </a:defRPr>
            </a:pPr>
            <a:r>
              <a:t>5개 실험 중 COLM 제출 최소 필수는 exp01+exp02+exp05.</a:t>
            </a:r>
            <a:br/>
            <a:r>
              <a:t>exp03/04는 부록으로 가능. 범위 축소 의견은?</a:t>
            </a:r>
          </a:p>
        </p:txBody>
      </p:sp>
      <p:sp>
        <p:nvSpPr>
          <p:cNvPr id="11" name="Oval 10"/>
          <p:cNvSpPr/>
          <p:nvPr/>
        </p:nvSpPr>
        <p:spPr>
          <a:xfrm>
            <a:off x="914400" y="3886200"/>
            <a:ext cx="411480" cy="411480"/>
          </a:xfrm>
          <a:prstGeom prst="ellipse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Q3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38404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품질 평가기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38404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  <a:latin typeface="맑은 고딕"/>
              </a:defRPr>
            </a:pPr>
            <a:r>
              <a:t>G-Eval (Claude Sonnet 4.5 judge) 단독 vs 2차 평가기 추가?</a:t>
            </a:r>
            <a:br/>
            <a:r>
              <a:t>비용 2배이지만 로버스트니스 확보</a:t>
            </a:r>
          </a:p>
        </p:txBody>
      </p:sp>
      <p:sp>
        <p:nvSpPr>
          <p:cNvPr id="14" name="Oval 13"/>
          <p:cNvSpPr/>
          <p:nvPr/>
        </p:nvSpPr>
        <p:spPr>
          <a:xfrm>
            <a:off x="914400" y="4800600"/>
            <a:ext cx="411480" cy="41148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Q4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47548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교차 모델 일반화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47548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  <a:latin typeface="맑은 고딕"/>
              </a:defRPr>
            </a:pPr>
            <a:r>
              <a:t>Claude Haiku 단독 vs GPT-4o-mini 추가 비교?</a:t>
            </a:r>
            <a:br/>
            <a:r>
              <a:t>일반화 주장 강화 but 비용+시간 2배</a:t>
            </a:r>
          </a:p>
        </p:txBody>
      </p:sp>
      <p:sp>
        <p:nvSpPr>
          <p:cNvPr id="17" name="Oval 16"/>
          <p:cNvSpPr/>
          <p:nvPr/>
        </p:nvSpPr>
        <p:spPr>
          <a:xfrm>
            <a:off x="914400" y="5715000"/>
            <a:ext cx="411480" cy="411480"/>
          </a:xfrm>
          <a:prstGeom prst="ellipse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Q5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56692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국내 학회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83280" y="56692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  <a:latin typeface="맑은 고딕"/>
              </a:defRPr>
            </a:pPr>
            <a:r>
              <a:t>한국정보과학회/한국소프트웨어공학회 동시 투고 가능성?</a:t>
            </a:r>
            <a:br/>
            <a:r>
              <a:t>한글 논문 초안 이미 완성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0" y="63093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88888"/>
                </a:solidFill>
                <a:latin typeface="맑은 고딕"/>
              </a:defRPr>
            </a:pPr>
            <a:r>
              <a:t>12/12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