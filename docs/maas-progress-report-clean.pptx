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749808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0CDEB"/>
                </a:solidFill>
                <a:latin typeface="Malgun Gothic"/>
              </a:rPr>
              <a:t>ARR / MAAS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07008"/>
            <a:ext cx="7772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Malgun Gothic"/>
              </a:rPr>
              <a:t>법규 기반 매스 생성
진행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DDE6F0"/>
                </a:solidFill>
                <a:latin typeface="Malgun Gothic"/>
              </a:rPr>
              <a:t>PNU 1168011800104170004 · DOM/API 검증 · VWorld 3D 미검증</a:t>
            </a:r>
          </a:p>
        </p:txBody>
      </p:sp>
      <p:pic>
        <p:nvPicPr>
          <p:cNvPr id="5" name="Picture 4" descr="design_optimize_result_with_2d_fallback_116801180010417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310128"/>
            <a:ext cx="7726679" cy="53657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56448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677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C639C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2631"/>
                </a:solidFill>
                <a:latin typeface="Malgun Gothic"/>
              </a:rPr>
              <a:t>한 장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8138160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50292" cy="1143000"/>
          </a:xfrm>
          <a:prstGeom prst="rect">
            <a:avLst/>
          </a:prstGeom>
          <a:solidFill>
            <a:srgbClr val="1C6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7276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핵심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83664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LLM이 매스를 그리는 구조가 아니다. 실제 geometry는 ARR/MAAS 코드가 만든다.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44752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44752"/>
            <a:ext cx="50292" cy="1143000"/>
          </a:xfrm>
          <a:prstGeom prst="rect">
            <a:avLst/>
          </a:prstGeom>
          <a:solidFill>
            <a:srgbClr val="26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7276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현재 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883664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legal envelope first 방식으로 후보 18개와 evidence bundle을 생성했다.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444752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444752"/>
            <a:ext cx="50292" cy="1143000"/>
          </a:xfrm>
          <a:prstGeom prst="rect">
            <a:avLst/>
          </a:prstGeom>
          <a:solidFill>
            <a:srgbClr val="B5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7276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주의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83664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Playwright 캡처는 VWorld 3D가 아니라 DOM/API와 2D fallback 검증이다.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063240"/>
            <a:ext cx="7452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631"/>
                </a:solidFill>
                <a:latin typeface="Malgun Gothic"/>
              </a:defRPr>
            </a:pPr>
            <a:r>
              <a:t>발표의 기준: 법규/DEM/datum으로 가능한 공간을 먼저 만들고, 그 안에서 매스 후보를 생성한다.</a:t>
            </a:r>
          </a:p>
          <a:p>
            <a:pPr>
              <a:spcAft>
                <a:spcPts val="400"/>
              </a:spcAft>
              <a:defRPr sz="1400">
                <a:solidFill>
                  <a:srgbClr val="1F2631"/>
                </a:solidFill>
                <a:latin typeface="Malgun Gothic"/>
              </a:defRPr>
            </a:pPr>
            <a:r>
              <a:t>LLM/agent는 결과를 설명하고 evidence 부족을 지적한다. 좌표나 mesh를 직접 생성하지 않는다.</a:t>
            </a:r>
          </a:p>
          <a:p>
            <a:pPr>
              <a:spcAft>
                <a:spcPts val="400"/>
              </a:spcAft>
              <a:defRPr sz="1400">
                <a:solidFill>
                  <a:srgbClr val="1F2631"/>
                </a:solidFill>
                <a:latin typeface="Malgun Gothic"/>
              </a:defRPr>
            </a:pPr>
            <a:r>
              <a:t>Nano Banana는 마지막 facade/aesthetic 단계 후보이며, 법규 geometry를 바꾸면 안 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677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C639C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2631"/>
                </a:solidFill>
                <a:latin typeface="Malgun Gothic"/>
              </a:rPr>
              <a:t>역할 분리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8138160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331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0292" cy="3474720"/>
          </a:xfrm>
          <a:prstGeom prst="rect">
            <a:avLst/>
          </a:prstGeom>
          <a:solidFill>
            <a:srgbClr val="26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45336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MAAS 코드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56232"/>
            <a:ext cx="2011679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필지 경계, 법규 constraint, legal envelope, floor plates, mass_geojson, repair/check를 계산한다.
Geometry source of truth.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417320"/>
            <a:ext cx="2331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1568" y="1417320"/>
            <a:ext cx="50292" cy="3474720"/>
          </a:xfrm>
          <a:prstGeom prst="rect">
            <a:avLst/>
          </a:prstGeom>
          <a:solidFill>
            <a:srgbClr val="1C6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545336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LLM /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1856232"/>
            <a:ext cx="2011679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후보 설명, evidence 요약, missing evidence 지적, 수정/재생성 요청, review orchestration을 맡는다.
Reviewer / explainer.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417320"/>
            <a:ext cx="2331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417320"/>
            <a:ext cx="50292" cy="3474720"/>
          </a:xfrm>
          <a:prstGeom prst="rect">
            <a:avLst/>
          </a:prstGeom>
          <a:solidFill>
            <a:srgbClr val="B5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545336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Image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856232"/>
            <a:ext cx="2011679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facade, material, window rhythm, presentation image를 만든다.
법규 매스 자체는 변경 금지.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677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C639C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2631"/>
                </a:solidFill>
                <a:latin typeface="Malgun Gothic"/>
              </a:rPr>
              <a:t>메싱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8138160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514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5087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639C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F2631"/>
                </a:solidFill>
                <a:latin typeface="Malgun Gothic"/>
              </a:rPr>
              <a:t>PNU 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 b="0">
                <a:solidFill>
                  <a:srgbClr val="5B6677"/>
                </a:solidFill>
                <a:latin typeface="Malgun Gothic"/>
              </a:rPr>
              <a:t>예: 1168011800104170004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417320"/>
            <a:ext cx="2514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9856" y="15087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639C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150876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F2631"/>
                </a:solidFill>
                <a:latin typeface="Malgun Gothic"/>
              </a:rPr>
              <a:t>대지 정보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1764792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 b="0">
                <a:solidFill>
                  <a:srgbClr val="5B6677"/>
                </a:solidFill>
                <a:latin typeface="Malgun Gothic"/>
              </a:rPr>
              <a:t>필지, 면적, 용도지역, 도로/인접, DEM datum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17320"/>
            <a:ext cx="2514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150876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639C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50876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F2631"/>
                </a:solidFill>
                <a:latin typeface="Malgun Gothic"/>
              </a:rPr>
              <a:t>법규 constraint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764792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 b="0">
                <a:solidFill>
                  <a:srgbClr val="5B6677"/>
                </a:solidFill>
                <a:latin typeface="Malgun Gothic"/>
              </a:rPr>
              <a:t>BCR/FAR/height/setback/일조/채광 reference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423160"/>
            <a:ext cx="2514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251460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639C"/>
                </a:solidFill>
                <a:latin typeface="Malgun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514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F2631"/>
                </a:solidFill>
                <a:latin typeface="Malgun Gothic"/>
              </a:rPr>
              <a:t>legal envelope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70632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 b="0">
                <a:solidFill>
                  <a:srgbClr val="5B6677"/>
                </a:solidFill>
                <a:latin typeface="Malgun Gothic"/>
              </a:rPr>
              <a:t>법적으로 매스가 들어갈 수 있는 3D 한계공간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0128" y="2423160"/>
            <a:ext cx="2514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9856" y="251460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639C"/>
                </a:solidFill>
                <a:latin typeface="Malgun Gothi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7328" y="2514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F2631"/>
                </a:solidFill>
                <a:latin typeface="Malgun Gothic"/>
              </a:rPr>
              <a:t>floor plate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2770632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 b="0">
                <a:solidFill>
                  <a:srgbClr val="5B6677"/>
                </a:solidFill>
                <a:latin typeface="Malgun Gothic"/>
              </a:rPr>
              <a:t>층별 허용 바닥판 생성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2423160"/>
            <a:ext cx="2514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251460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639C"/>
                </a:solidFill>
                <a:latin typeface="Malgun Gothic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514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F2631"/>
                </a:solidFill>
                <a:latin typeface="Malgun Gothic"/>
              </a:rPr>
              <a:t>legal_layered_max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770632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 b="0">
                <a:solidFill>
                  <a:srgbClr val="5B6677"/>
                </a:solidFill>
                <a:latin typeface="Malgun Gothic"/>
              </a:rPr>
              <a:t>envelope를 최대한 채우는 기준 후보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429000"/>
            <a:ext cx="2514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352044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639C"/>
                </a:solidFill>
                <a:latin typeface="Malgun Gothic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52044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F2631"/>
                </a:solidFill>
                <a:latin typeface="Malgun Gothic"/>
              </a:rPr>
              <a:t>seed/operator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776472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 b="0">
                <a:solidFill>
                  <a:srgbClr val="5B6677"/>
                </a:solidFill>
                <a:latin typeface="Malgun Gothic"/>
              </a:rPr>
              <a:t>다단 일조스텝, 분절, 테라스, 중정, 바형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10128" y="3429000"/>
            <a:ext cx="2514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19856" y="352044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639C"/>
                </a:solidFill>
                <a:latin typeface="Malgun Gothic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7328" y="352044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F2631"/>
                </a:solidFill>
                <a:latin typeface="Malgun Gothic"/>
              </a:rPr>
              <a:t>repair/check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67328" y="3776472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 b="0">
                <a:solidFill>
                  <a:srgbClr val="5B6677"/>
                </a:solidFill>
                <a:latin typeface="Malgun Gothic"/>
              </a:rPr>
              <a:t>법규 밖 후보는 수정하거나 탈락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3429000"/>
            <a:ext cx="2514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352044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639C"/>
                </a:solidFill>
                <a:latin typeface="Malgun Gothic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52044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F2631"/>
                </a:solidFill>
                <a:latin typeface="Malgun Gothic"/>
              </a:rPr>
              <a:t>score/select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776472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 b="0">
                <a:solidFill>
                  <a:srgbClr val="5B6677"/>
                </a:solidFill>
                <a:latin typeface="Malgun Gothic"/>
              </a:rPr>
              <a:t>FAR/BCR, 높이, 일조, plan/section diversity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37360" y="4434840"/>
            <a:ext cx="2514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47088" y="4526279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639C"/>
                </a:solidFill>
                <a:latin typeface="Malgun Gothic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4526279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F2631"/>
                </a:solidFill>
                <a:latin typeface="Malgun Gothic"/>
              </a:rPr>
              <a:t>frontend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4782312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 b="0">
                <a:solidFill>
                  <a:srgbClr val="5B6677"/>
                </a:solidFill>
                <a:latin typeface="Malgun Gothic"/>
              </a:rPr>
              <a:t>mass_geojson, floor_plates, mass_volumes, metrics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92040" y="4434840"/>
            <a:ext cx="2514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01768" y="4526279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639C"/>
                </a:solidFill>
                <a:latin typeface="Malgun Gothic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4526279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F2631"/>
                </a:solidFill>
                <a:latin typeface="Malgun Gothic"/>
              </a:rPr>
              <a:t>agent review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4782312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 b="0">
                <a:solidFill>
                  <a:srgbClr val="5B6677"/>
                </a:solidFill>
                <a:latin typeface="Malgun Gothic"/>
              </a:rPr>
              <a:t>설명, missing evidence, needs_evidence 판단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5650992"/>
            <a:ext cx="7315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0" y="5650992"/>
            <a:ext cx="50292" cy="50292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7280" y="5779007"/>
            <a:ext cx="6995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정리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6089904"/>
            <a:ext cx="69951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LLM이 좌표를 찍어 매스를 만드는 것이 아니라, 코드가 만든 evidence를 LLM이 검토한다.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56448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677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C639C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2631"/>
                </a:solidFill>
                <a:latin typeface="Malgun Gothic"/>
              </a:rPr>
              <a:t>법규와 Datum 근거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8138160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as_legal_basi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2788920" cy="261886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703320" y="1389888"/>
            <a:ext cx="2194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03320" y="1389888"/>
            <a:ext cx="50292" cy="1005840"/>
          </a:xfrm>
          <a:prstGeom prst="rect">
            <a:avLst/>
          </a:prstGeom>
          <a:solidFill>
            <a:srgbClr val="26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1517904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Datum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82880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NGII local DEM
대지/도로/인접대지 샘플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89888"/>
            <a:ext cx="2194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89888"/>
            <a:ext cx="50292" cy="1005840"/>
          </a:xfrm>
          <a:prstGeom prst="rect">
            <a:avLst/>
          </a:prstGeom>
          <a:solidFill>
            <a:srgbClr val="1C6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17904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법규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§119 대지 기준면
§86 평균수평면
정북일조/채광 reference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2743200"/>
            <a:ext cx="2194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03320" y="2743200"/>
            <a:ext cx="50292" cy="1005840"/>
          </a:xfrm>
          <a:prstGeom prst="rect">
            <a:avLst/>
          </a:prstGeom>
          <a:solidFill>
            <a:srgbClr val="B5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2871216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검증값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182112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도로폭 37.5m
전면도로 후보 1
인접대지 후보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43200"/>
            <a:ext cx="2194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743200"/>
            <a:ext cx="50292" cy="100584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871216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주의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182112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채광사선은 최종 pass/fail이 아니라 reference. 매스 창면 ray 검토 필요.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343400"/>
            <a:ext cx="4389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5B6677"/>
                </a:solidFill>
                <a:latin typeface="Malgun Gothic"/>
              </a:defRPr>
            </a:pPr>
            <a:r>
              <a:t>법규 수치는 Playwright capture-result-with-fallback.json 화면 텍스트 기준이다.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677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C639C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2631"/>
                </a:solidFill>
                <a:latin typeface="Malgun Gothic"/>
              </a:rPr>
              <a:t>Playwright 근거: VWorld가 아니라 2D fallback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8138160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as_2d_mass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4800600" cy="762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389888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389888"/>
            <a:ext cx="50292" cy="1005840"/>
          </a:xfrm>
          <a:prstGeom prst="rect">
            <a:avLst/>
          </a:prstGeom>
          <a:solidFill>
            <a:srgbClr val="26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517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확인된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828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DOM 렌더, API flow, 후보 리스트, 2D MASS PREVIEW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65176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0" y="2651760"/>
            <a:ext cx="50292" cy="100584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7797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확인 안 된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0906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Cesium/VWorld 3D 픽셀과 실제 지형 위 배치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913632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3913632"/>
            <a:ext cx="50292" cy="1005840"/>
          </a:xfrm>
          <a:prstGeom prst="rect">
            <a:avLst/>
          </a:prstGeom>
          <a:solidFill>
            <a:srgbClr val="B5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40416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그래서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435254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Playwright DOM/API 캡처로 표기. VWorld 검증 완료라고 쓰지 않음.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677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C639C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2631"/>
                </a:solidFill>
                <a:latin typeface="Malgun Gothic"/>
              </a:rPr>
              <a:t>MAAS 로직 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8138160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14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0292" cy="1170432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4533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이전 관점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56232"/>
            <a:ext cx="21945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GA/legacy 후보 생성 → 법규로 걸러냄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17320"/>
            <a:ext cx="2514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50292" cy="1170432"/>
          </a:xfrm>
          <a:prstGeom prst="rect">
            <a:avLst/>
          </a:prstGeom>
          <a:solidFill>
            <a:srgbClr val="26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4533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현재 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856232"/>
            <a:ext cx="21945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legal envelope → floor plates → 후보 다양화 → repair/check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417320"/>
            <a:ext cx="25146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417320"/>
            <a:ext cx="50292" cy="1170432"/>
          </a:xfrm>
          <a:prstGeom prst="rect">
            <a:avLst/>
          </a:prstGeom>
          <a:solidFill>
            <a:srgbClr val="B5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4533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legacy 10종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56232"/>
            <a:ext cx="21945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capacity source가 아니라 seed/operator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5468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F2631"/>
                </a:solidFill>
                <a:latin typeface="Malgun Gothic"/>
              </a:defRPr>
            </a:pPr>
            <a:r>
              <a:t>legal_layered_max가 기준 후보로 먼저 생성된다.</a:t>
            </a:r>
          </a:p>
          <a:p>
            <a:pPr>
              <a:spcAft>
                <a:spcPts val="400"/>
              </a:spcAft>
              <a:defRPr sz="1300">
                <a:solidFill>
                  <a:srgbClr val="1F2631"/>
                </a:solidFill>
                <a:latin typeface="Malgun Gothic"/>
              </a:defRPr>
            </a:pPr>
            <a:r>
              <a:t>grammar/morphology 후보는 notch, split, branch, overlap, terrace, tower, taper, grade 등 polygon operator로 만든다.</a:t>
            </a:r>
          </a:p>
          <a:p>
            <a:pPr>
              <a:spcAft>
                <a:spcPts val="400"/>
              </a:spcAft>
              <a:defRPr sz="1300">
                <a:solidFill>
                  <a:srgbClr val="1F2631"/>
                </a:solidFill>
                <a:latin typeface="Malgun Gothic"/>
              </a:defRPr>
            </a:pPr>
            <a:r>
              <a:t>모든 후보는 repair_design과 legal metrics를 통과해야 UI에 남는다.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677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C639C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2631"/>
                </a:solidFill>
                <a:latin typeface="Malgun Gothic"/>
              </a:rPr>
              <a:t>Seed / Operator 원리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8138160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7955278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161"/>
                <a:gridCol w="2466136"/>
                <a:gridCol w="3738981"/>
              </a:tblGrid>
              <a:tr h="450668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후보</a:t>
                      </a:r>
                    </a:p>
                  </a:txBody>
                  <a:tcPr>
                    <a:solidFill>
                      <a:srgbClr val="12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원리</a:t>
                      </a:r>
                    </a:p>
                  </a:txBody>
                  <a:tcPr>
                    <a:solidFill>
                      <a:srgbClr val="12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실제 연산</a:t>
                      </a:r>
                    </a:p>
                  </a:txBody>
                  <a:tcPr>
                    <a:solidFill>
                      <a:srgbClr val="121B28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다단 일조스텝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층별 법규 envelope 추종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step_envelope → floor plate stack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분절+브릿지+계단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저층부 분절 + 상부 후퇴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split → lift → grade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테라스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상부 footprint 축소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upper scale + volume bands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중정형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중앙 void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polygon.difference(center box)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바형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한 방향 압축/이동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scale + translate + intersection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672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코너/오픈코트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코너 또는 edge 절삭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difference(cutter box)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074920"/>
            <a:ext cx="7406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074920"/>
            <a:ext cx="50292" cy="658368"/>
          </a:xfrm>
          <a:prstGeom prst="rect">
            <a:avLst/>
          </a:prstGeom>
          <a:solidFill>
            <a:srgbClr val="1C6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202936"/>
            <a:ext cx="7086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핵심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513831"/>
            <a:ext cx="708660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라벨만 붙인 것이 아니라 Shapely polygon boolean/affine operation 후 legal repair/check를 통과한 후보다.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677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C639C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2631"/>
                </a:solidFill>
                <a:latin typeface="Malgun Gothic"/>
              </a:rPr>
              <a:t>후보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8138160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89888"/>
          <a:ext cx="8092437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470"/>
                <a:gridCol w="1861261"/>
                <a:gridCol w="2832353"/>
                <a:gridCol w="890168"/>
                <a:gridCol w="890168"/>
                <a:gridCol w="1052017"/>
              </a:tblGrid>
              <a:tr h="450668"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2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화면명</a:t>
                      </a:r>
                    </a:p>
                  </a:txBody>
                  <a:tcPr>
                    <a:solidFill>
                      <a:srgbClr val="12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operator</a:t>
                      </a:r>
                    </a:p>
                  </a:txBody>
                  <a:tcPr>
                    <a:solidFill>
                      <a:srgbClr val="12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연면적</a:t>
                      </a:r>
                    </a:p>
                  </a:txBody>
                  <a:tcPr>
                    <a:solidFill>
                      <a:srgbClr val="12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일조</a:t>
                      </a:r>
                    </a:p>
                  </a:txBody>
                  <a:tcPr>
                    <a:solidFill>
                      <a:srgbClr val="12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121B28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법규엔벨로프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legal_layered_max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포디움/타워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lift_overlap_slabs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429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62.4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다단 일조스텝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grammar_sunlight_multi_step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포디움+타워오프셋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grammar_podium_tower_offset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테라스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grade_terrace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672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분절+브릿지+계단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grammar_split_lift_stepback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265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69.6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F2631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892040"/>
            <a:ext cx="3566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4892040"/>
            <a:ext cx="50292" cy="713232"/>
          </a:xfrm>
          <a:prstGeom prst="rect">
            <a:avLst/>
          </a:prstGeom>
          <a:solidFill>
            <a:srgbClr val="26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020055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화면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330952"/>
            <a:ext cx="324612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Playwright capture text에 18개 후보명과 상태가 기록됨.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4892040"/>
            <a:ext cx="3566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4892040"/>
            <a:ext cx="50292" cy="713232"/>
          </a:xfrm>
          <a:prstGeom prst="rect">
            <a:avLst/>
          </a:prstGeom>
          <a:solidFill>
            <a:srgbClr val="B5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5020055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주의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5330952"/>
            <a:ext cx="324612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화면 지표와 evidence dry-run은 산출 시점 차이가 있어 같은 값으로 섞지 않음.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677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C639C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2631"/>
                </a:solidFill>
                <a:latin typeface="Malgun Gothic"/>
              </a:rPr>
              <a:t>Evidence Bundle과 Agent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8138160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0292" cy="1143000"/>
          </a:xfrm>
          <a:prstGeom prst="rect">
            <a:avLst/>
          </a:prstGeom>
          <a:solidFill>
            <a:srgbClr val="B5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4533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5623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arr.maas.evidence.v0
checks 7
missing evidence 4
needs_evidence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41732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64992" y="1417320"/>
            <a:ext cx="50292" cy="1143000"/>
          </a:xfrm>
          <a:prstGeom prst="rect">
            <a:avLst/>
          </a:prstGeom>
          <a:solidFill>
            <a:srgbClr val="1C6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54533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담는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85623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site, candidate, geometry, legal, program, assets, provenance,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141732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53328" y="1417320"/>
            <a:ext cx="50292" cy="1143000"/>
          </a:xfrm>
          <a:prstGeom prst="rect">
            <a:avLst/>
          </a:prstGeom>
          <a:solidFill>
            <a:srgbClr val="26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54533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Agent 판단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185623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말로 통과시키지 않고 evidence를 읽어 PASS/FAIL/needs_evidence 판단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154680"/>
            <a:ext cx="7315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F2631"/>
                </a:solidFill>
                <a:latin typeface="Malgun Gothic"/>
              </a:defRPr>
            </a:pPr>
            <a:r>
              <a:t>unknown은 pass가 아니다.</a:t>
            </a:r>
          </a:p>
          <a:p>
            <a:pPr>
              <a:spcAft>
                <a:spcPts val="400"/>
              </a:spcAft>
              <a:defRPr sz="1300">
                <a:solidFill>
                  <a:srgbClr val="1F2631"/>
                </a:solidFill>
                <a:latin typeface="Malgun Gothic"/>
              </a:defRPr>
            </a:pPr>
            <a:r>
              <a:t>geometry는 GeoJSON/assets에 두고, Graph DB는 법규 근거와 lineage provenance에 사용한다.</a:t>
            </a:r>
          </a:p>
          <a:p>
            <a:pPr>
              <a:spcAft>
                <a:spcPts val="400"/>
              </a:spcAft>
              <a:defRPr sz="1300">
                <a:solidFill>
                  <a:srgbClr val="1F2631"/>
                </a:solidFill>
                <a:latin typeface="Malgun Gothic"/>
              </a:defRPr>
            </a:pPr>
            <a:r>
              <a:t>LLM review는 evidence 위에서만 의미가 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677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C639C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2631"/>
                </a:solidFill>
                <a:latin typeface="Malgun Gothic"/>
              </a:rPr>
              <a:t>Nano Banana / Aesthetic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8138160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62e70d5c89fd8b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44752"/>
            <a:ext cx="2743200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86200" y="1417320"/>
            <a:ext cx="4434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1417320"/>
            <a:ext cx="50292" cy="914400"/>
          </a:xfrm>
          <a:prstGeom prst="rect">
            <a:avLst/>
          </a:prstGeom>
          <a:solidFill>
            <a:srgbClr val="1C6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54533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역할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856232"/>
            <a:ext cx="41148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legal mass 이후 facade/material/window rhythm을 입히는 presentation 단계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2578608"/>
            <a:ext cx="4434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86200" y="2578608"/>
            <a:ext cx="50292" cy="914400"/>
          </a:xfrm>
          <a:prstGeom prst="rect">
            <a:avLst/>
          </a:prstGeom>
          <a:solidFill>
            <a:srgbClr val="26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270662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017520"/>
            <a:ext cx="41148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Gemini API 우선 adapter. 기본 모델 gemini-2.5-flash-image-preview.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3749039"/>
            <a:ext cx="4434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3749039"/>
            <a:ext cx="50292" cy="914400"/>
          </a:xfrm>
          <a:prstGeom prst="rect">
            <a:avLst/>
          </a:prstGeom>
          <a:solidFill>
            <a:srgbClr val="B5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3877055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현재 상태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4187952"/>
            <a:ext cx="41148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provider key가 없으면 needs_provider. 생성 성공처럼 표시하지 않음.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4919472"/>
            <a:ext cx="4434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86200" y="4919472"/>
            <a:ext cx="50292" cy="73152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50474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금지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5358383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silhouette, footprint, height, floor count, setbacks 변경 금지.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677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C639C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2631"/>
                </a:solidFill>
                <a:latin typeface="Malgun Gothic"/>
              </a:rPr>
              <a:t>남은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8138160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794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0292" cy="105156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453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VWorld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56232"/>
            <a:ext cx="347472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현재 Playwright는 VWorld 3D 픽셀 검증이 아니다. 실제 브라우저 캡처가 필요하다.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417320"/>
            <a:ext cx="3794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81728" y="1417320"/>
            <a:ext cx="50292" cy="1051560"/>
          </a:xfrm>
          <a:prstGeom prst="rect">
            <a:avLst/>
          </a:prstGeom>
          <a:solidFill>
            <a:srgbClr val="B5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4608" y="15453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법규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856232"/>
            <a:ext cx="347472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§119 &gt;3m true area partition, mass-aware daylight, front-road height envelope 미완성.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43200"/>
            <a:ext cx="3794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43200"/>
            <a:ext cx="50292" cy="1051560"/>
          </a:xfrm>
          <a:prstGeom prst="rect">
            <a:avLst/>
          </a:prstGeom>
          <a:solidFill>
            <a:srgbClr val="B5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87121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매스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182112"/>
            <a:ext cx="347472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program/core/corridor/egress/depth rule과 3D diversity validator가 더 필요하다.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1728" y="2743200"/>
            <a:ext cx="3794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81728" y="2743200"/>
            <a:ext cx="50292" cy="105156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287121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복잡 필지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3182112"/>
            <a:ext cx="347472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concave/multi-road parcel에서 buildable footprint와 road datum 검증 필요.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677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74980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A0CDEB"/>
                </a:solidFill>
                <a:latin typeface="Malgun Gothic"/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07008"/>
            <a:ext cx="77266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Malgun Gothic"/>
              </a:rPr>
              <a:t>MAAS의 핵심은
LLM 생성이 아니라 검증 가능한 geometry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274320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2743200"/>
            <a:ext cx="50292" cy="1143000"/>
          </a:xfrm>
          <a:prstGeom prst="rect">
            <a:avLst/>
          </a:prstGeom>
          <a:solidFill>
            <a:srgbClr val="26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87121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현재 성과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18211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legal envelope first
후보 18개
2D fallback/evidence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274320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4992" y="2743200"/>
            <a:ext cx="50292" cy="1143000"/>
          </a:xfrm>
          <a:prstGeom prst="rect">
            <a:avLst/>
          </a:prstGeom>
          <a:solidFill>
            <a:srgbClr val="B5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287121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정확한 표현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318211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DOM/API 검증
VWorld 3D 미검증
needs_evidence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74320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2743200"/>
            <a:ext cx="50292" cy="1143000"/>
          </a:xfrm>
          <a:prstGeom prst="rect">
            <a:avLst/>
          </a:prstGeom>
          <a:solidFill>
            <a:srgbClr val="1C6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87121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2631"/>
                </a:solidFill>
                <a:latin typeface="Malgun Gothic"/>
              </a:rPr>
              <a:t>다음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18211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5B6677"/>
                </a:solidFill>
                <a:latin typeface="Malgun Gothic"/>
              </a:rPr>
              <a:t>real-browser VWorld
mass-aware daylight
program validator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892040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DCE6F0"/>
                </a:solidFill>
                <a:latin typeface="Malgun Gothic"/>
              </a:rPr>
              <a:t>산출 파일: docs/maas-progress-report-clean.pptx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677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