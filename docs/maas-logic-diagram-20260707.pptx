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13232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MAAS Legal Massing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Malgun Gothic"/>
              </a:defRPr>
            </a:pPr>
            <a:r>
              <a:t>LLM 건축언어 -&gt; MassDSL -&gt; 법규/주차 검증 -&gt; PNG/JSON 증거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40280"/>
            <a:ext cx="150876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LLM</a:t>
            </a:r>
            <a:br/>
            <a:r>
              <a:t>언어 제안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40280"/>
            <a:ext cx="1508760" cy="731520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Grammar</a:t>
            </a:r>
            <a:br/>
            <a:r>
              <a:t>컴파일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8032" y="2240280"/>
            <a:ext cx="1508760" cy="731520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Legal</a:t>
            </a:r>
            <a:br/>
            <a:r>
              <a:t>Hard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240280"/>
            <a:ext cx="1508760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  <a:br/>
            <a:r>
              <a:t>PNG/JSON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76272" y="260604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1104" y="260604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45936" y="260604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06908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핵심: 법규는 LLM이 판단하지 않고, deterministic solver가 검증/clip/reject한다.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Malgun Gothic"/>
              </a:defRPr>
            </a:pPr>
            <a:r>
              <a:t>1. 전체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텍스트 프롬프트가 아니라, 각 단계가 증거를 남기는 연구용 생성 루프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11680"/>
            <a:ext cx="1143000" cy="7863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Site</a:t>
            </a:r>
            <a:br/>
            <a:r>
              <a:t>Constraints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81328" y="2404872"/>
            <a:ext cx="31089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28800" y="2011680"/>
            <a:ext cx="1143000" cy="786384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LLM</a:t>
            </a:r>
            <a:br/>
            <a:r>
              <a:t>Language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0088" y="2404872"/>
            <a:ext cx="31089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2011680"/>
            <a:ext cx="1143000" cy="786384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Compiler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98848" y="2404872"/>
            <a:ext cx="31089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46320" y="2011680"/>
            <a:ext cx="1143000" cy="786384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Legal/Parking</a:t>
            </a:r>
            <a:br/>
            <a:r>
              <a:t>Solver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07608" y="2404872"/>
            <a:ext cx="31089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2011680"/>
            <a:ext cx="1143000" cy="786384"/>
          </a:xfrm>
          <a:prstGeom prst="roundRect">
            <a:avLst/>
          </a:prstGeom>
          <a:solidFill>
            <a:srgbClr val="BE123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Verifier</a:t>
            </a:r>
            <a:br/>
            <a:r>
              <a:t>Gates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507224" y="2404872"/>
            <a:ext cx="914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43800" y="2011680"/>
            <a:ext cx="1143000" cy="786384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PNG/JSON</a:t>
            </a:r>
            <a:br/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실패하면 prompt tweak가 아니라 verifier failure를 읽고 language pair / geometry rule / repair strategy를 수정한다.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Malgun Gothic"/>
              </a:defRPr>
            </a:pPr>
            <a:r>
              <a:t>2. 다양성의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family count가 아니라 primary + secondary + physical layer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92024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Primary</a:t>
            </a:r>
            <a:br/>
            <a: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courtyard</a:t>
            </a:r>
            <a:br/>
            <a:r>
              <a:t>split bridge</a:t>
            </a:r>
            <a:br/>
            <a:r>
              <a:t>overlap slabs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1920240" cy="731520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Secondary</a:t>
            </a:r>
            <a:br/>
            <a: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3172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roof cap</a:t>
            </a:r>
            <a:br/>
            <a:r>
              <a:t>court liner</a:t>
            </a:r>
            <a:br/>
            <a:r>
              <a:t>diagonal connector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17320"/>
            <a:ext cx="1920240" cy="731520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Composition</a:t>
            </a:r>
            <a:br/>
            <a: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33172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split_bridge</a:t>
            </a:r>
            <a:br/>
            <a:r>
              <a:t>+</a:t>
            </a:r>
            <a:br/>
            <a:r>
              <a:t>terrace_ribbon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657600"/>
            <a:ext cx="1828800" cy="502920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source volume role로 증명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1783080"/>
            <a:ext cx="34747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19472" y="1783080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074920" y="2212848"/>
            <a:ext cx="1188720" cy="140817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Malgun Gothic"/>
              </a:defRPr>
            </a:pPr>
            <a:r>
              <a:t>3. Geometry Primitive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기존 박스 decomposition에서 polygonal / curvilinear / freeform source primitive로 확장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201168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Rectilinear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143000"/>
            <a:ext cx="2011680" cy="59436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Polygonal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143000"/>
            <a:ext cx="2011680" cy="594360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Curvilinear / Freeform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1444752"/>
            <a:ext cx="8686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444752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14884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새 source roles: polygonal_diagonal_lower_wedge, polygonal_overlap_slab_high, curvilinear_bend_long_ribbon, freeform_branch_hinge_canopy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E123C"/>
                </a:solidFill>
                <a:latin typeface="Malgun Gothic"/>
              </a:defRPr>
            </a:pPr>
            <a:r>
              <a:t>중요: 이 primitive들도 최종적으로 legal envelope와 parking mass-stage gate를 통과해야 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Malgun Gothic"/>
              </a:defRPr>
            </a:pPr>
            <a:r>
              <a:t>4. 법규는 Hard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LLM이 법규를 통과했다고 말해도 의미 없음. solver evidence가 필요함.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55448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LLM Mass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1554480" cy="640080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Legal</a:t>
            </a:r>
            <a:br/>
            <a:r>
              <a:t>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71600"/>
            <a:ext cx="1554480" cy="640080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Parking</a:t>
            </a:r>
            <a:br/>
            <a:r>
              <a:t>Precheck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1554480" cy="640080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Pass or</a:t>
            </a:r>
            <a:br/>
            <a:r>
              <a:t>Reject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67712" y="1700784"/>
            <a:ext cx="5486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07408" y="1700784"/>
            <a:ext cx="5486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47104" y="1700784"/>
            <a:ext cx="5486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28346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repair_delta = 원래 제안 면적 대비 legal repair 후 보존율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794760"/>
            <a:ext cx="1417320" cy="347472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minor &gt;= 0.85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3794760"/>
            <a:ext cx="1417320" cy="347472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moderate &gt;= 0.65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94760"/>
            <a:ext cx="1417320" cy="347472"/>
          </a:xfrm>
          <a:prstGeom prst="roundRect">
            <a:avLst/>
          </a:prstGeom>
          <a:solidFill>
            <a:srgbClr val="BE123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severe &lt; 0.65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Malgun Gothic"/>
              </a:defRPr>
            </a:pPr>
            <a:r>
              <a:t>5. 정갈함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다양한 조각이 아니라, 읽히는 주종관계와 축을 통과해야 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600200" cy="59436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Dominant</a:t>
            </a:r>
            <a:br/>
            <a:r>
              <a:t>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143000"/>
            <a:ext cx="1600200" cy="594360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Main Mass</a:t>
            </a:r>
            <a:br/>
            <a:r>
              <a:t>Ratio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43000"/>
            <a:ext cx="1600200" cy="594360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Aligned</a:t>
            </a:r>
            <a:br/>
            <a:r>
              <a:t>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43000"/>
            <a:ext cx="1600200" cy="594360"/>
          </a:xfrm>
          <a:prstGeom prst="roundRect">
            <a:avLst/>
          </a:prstGeom>
          <a:solidFill>
            <a:srgbClr val="BE123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Fragment</a:t>
            </a:r>
            <a:br/>
            <a:r>
              <a:t>Penalty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2848" y="144475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33087" y="1444752"/>
            <a:ext cx="27432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53328" y="144475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2331720"/>
            <a:ext cx="749807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orderliness_score = 주축 + 큰 매스 비율 + 정렬 비율 + 위계 - 작은 조각/불명확 혼합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algun Gothic"/>
              </a:defRPr>
            </a:pPr>
            <a:r>
              <a:t>최종 선택은 법규를 먼저 통과한 후보 중에서 diversity와 orderliness를 같이 본다.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69080"/>
            <a:ext cx="1234440" cy="347472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legal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069080"/>
            <a:ext cx="132588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diversity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069080"/>
            <a:ext cx="1234440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order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069080"/>
            <a:ext cx="1234440" cy="347472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PNG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Malgun Gothic"/>
              </a:defRPr>
            </a:pPr>
            <a:r>
              <a:t>6. 현재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발표용 핵심 숫자: 다양성은 label이 아니라 evidence로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legalPass</a:t>
            </a:r>
            <a:br/>
            <a:r>
              <a:t>20/20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1097280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sourceGeometryUsed</a:t>
            </a:r>
            <a:br/>
            <a:r>
              <a:t>20/20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1097280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parkingMassStage</a:t>
            </a:r>
            <a:br/>
            <a:r>
              <a:t>20/20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33172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primarySecondary</a:t>
            </a:r>
            <a:br/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2011680"/>
            <a:ext cx="2331720" cy="566928"/>
          </a:xfrm>
          <a:prstGeom prst="roundRect">
            <a:avLst/>
          </a:prstGeom>
          <a:solidFill>
            <a:srgbClr val="0D948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sourcePrimitive</a:t>
            </a:r>
            <a:br/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2011680"/>
            <a:ext cx="2331720" cy="566928"/>
          </a:xfrm>
          <a:prstGeom prst="roundRect">
            <a:avLst/>
          </a:prstGeom>
          <a:solidFill>
            <a:srgbClr val="EA580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repairDelta</a:t>
            </a:r>
            <a:br/>
            <a:r>
              <a:t>20</a:t>
            </a:r>
          </a:p>
        </p:txBody>
      </p:sp>
      <p:pic>
        <p:nvPicPr>
          <p:cNvPr id="10" name="Picture 9" descr="maas-20-alt-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7772400" cy="4946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70916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남은 한계: permit-final parking은 별도 검증 필요. 현재는 count/mass-stage precheck.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