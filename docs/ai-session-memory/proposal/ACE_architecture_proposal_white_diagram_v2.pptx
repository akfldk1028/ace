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4360" y="1024128"/>
            <a:ext cx="55778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Graph DB와 협업형</a:t>
            </a:r>
            <a:br/>
            <a:r>
              <a:t>멀티에이전트를 활용한</a:t>
            </a:r>
            <a:br/>
            <a:r>
              <a:t>건축설계 자동화 및</a:t>
            </a:r>
            <a:br/>
            <a:r>
              <a:t>법규 검증 방법 연구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" y="3977639"/>
            <a:ext cx="5486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0">
                <a:solidFill>
                  <a:srgbClr val="1F2933"/>
                </a:solidFill>
                <a:latin typeface="Malgun Gothic"/>
              </a:defRPr>
            </a:pPr>
            <a:r>
              <a:t>대지·법규 지식 구조화와 에이전트 협업을 통한</a:t>
            </a:r>
            <a:br/>
            <a:r>
              <a:t>초기 설계안 생성 및 검토 프로세스</a:t>
            </a:r>
          </a:p>
        </p:txBody>
      </p:sp>
      <p:cxnSp>
        <p:nvCxnSpPr>
          <p:cNvPr id="95" name="Connector 94"/>
          <p:cNvCxnSpPr/>
          <p:nvPr/>
        </p:nvCxnSpPr>
        <p:spPr>
          <a:xfrm flipV="1">
            <a:off x="5897880" y="2105406"/>
            <a:ext cx="2112264" cy="912114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010144" y="2105406"/>
            <a:ext cx="2688336" cy="912114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8586216" y="3017520"/>
            <a:ext cx="2112264" cy="1036929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 flipV="1">
            <a:off x="5897880" y="3017520"/>
            <a:ext cx="2688336" cy="1036929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858000" y="2249424"/>
            <a:ext cx="1152144" cy="33604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010144" y="2249424"/>
            <a:ext cx="528066" cy="220827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7386066" y="2470251"/>
            <a:ext cx="1152144" cy="3264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6858000" y="2585466"/>
            <a:ext cx="528066" cy="211226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858000" y="1433322"/>
            <a:ext cx="0" cy="1152144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010144" y="1097280"/>
            <a:ext cx="0" cy="1152144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538210" y="1318107"/>
            <a:ext cx="0" cy="1152144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386066" y="1644548"/>
            <a:ext cx="0" cy="1152144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858000" y="1097280"/>
            <a:ext cx="1152144" cy="33604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010144" y="1097280"/>
            <a:ext cx="528066" cy="220827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7386066" y="1318107"/>
            <a:ext cx="1152144" cy="3264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 flipV="1">
            <a:off x="6858000" y="1433322"/>
            <a:ext cx="528066" cy="211226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818120" y="1961388"/>
            <a:ext cx="1296162" cy="33604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114282" y="1961388"/>
            <a:ext cx="528066" cy="220827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8346186" y="2182215"/>
            <a:ext cx="1296162" cy="3264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 flipV="1">
            <a:off x="7818120" y="2297430"/>
            <a:ext cx="528066" cy="211226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7818120" y="665226"/>
            <a:ext cx="0" cy="1632204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114282" y="329184"/>
            <a:ext cx="0" cy="1632204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642348" y="550011"/>
            <a:ext cx="0" cy="1632204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8346186" y="876452"/>
            <a:ext cx="0" cy="1632204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7818120" y="329184"/>
            <a:ext cx="1296162" cy="33604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114282" y="329184"/>
            <a:ext cx="528066" cy="220827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8346186" y="550011"/>
            <a:ext cx="1296162" cy="3264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 flipV="1">
            <a:off x="7818120" y="665226"/>
            <a:ext cx="528066" cy="211226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8778240" y="2345435"/>
            <a:ext cx="1056132" cy="33604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834372" y="2345435"/>
            <a:ext cx="528066" cy="2208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9306306" y="2566263"/>
            <a:ext cx="1056132" cy="3264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 flipV="1">
            <a:off x="8778240" y="2681478"/>
            <a:ext cx="528066" cy="211226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8778240" y="1721357"/>
            <a:ext cx="0" cy="960121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834372" y="1385315"/>
            <a:ext cx="0" cy="960120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0362438" y="1606143"/>
            <a:ext cx="0" cy="960120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306306" y="1932584"/>
            <a:ext cx="0" cy="960120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8778240" y="1385315"/>
            <a:ext cx="1056132" cy="336042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834372" y="1385315"/>
            <a:ext cx="528066" cy="2208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9306306" y="1606143"/>
            <a:ext cx="1056132" cy="3264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 flipV="1">
            <a:off x="8778240" y="1721357"/>
            <a:ext cx="528066" cy="211227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5321808" y="3478377"/>
            <a:ext cx="2304288" cy="1027329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665976" y="3478377"/>
            <a:ext cx="2304288" cy="1027329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298179" y="3478377"/>
            <a:ext cx="2304289" cy="1027329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930384" y="3478377"/>
            <a:ext cx="2304288" cy="1027329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0890504" y="3478377"/>
            <a:ext cx="2304288" cy="1027329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6185916" y="1625346"/>
            <a:ext cx="1728216" cy="691286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914132" y="1625346"/>
            <a:ext cx="1728216" cy="691286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9834372" y="1625346"/>
            <a:ext cx="1728216" cy="691286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5788152" y="850392"/>
            <a:ext cx="1283817" cy="17830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071969" y="1028700"/>
            <a:ext cx="927202" cy="64190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6822338" y="1670608"/>
            <a:ext cx="1176833" cy="356616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>
            <a:off x="5681167" y="850392"/>
            <a:ext cx="106985" cy="92720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5681167" y="1777593"/>
            <a:ext cx="748893" cy="8915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430060" y="2027224"/>
            <a:ext cx="392278" cy="64190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6822338" y="2027224"/>
            <a:ext cx="927202" cy="570586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 flipV="1">
            <a:off x="5788152" y="850392"/>
            <a:ext cx="1961388" cy="174741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150"/>
          <p:cNvSpPr/>
          <p:nvPr/>
        </p:nvSpPr>
        <p:spPr>
          <a:xfrm>
            <a:off x="5623560" y="685800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법규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907377" y="864108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대지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834579" y="1506016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주차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657746" y="1862632"/>
            <a:ext cx="627644" cy="271028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후보안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516575" y="1613001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위반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265468" y="2504541"/>
            <a:ext cx="627644" cy="2710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수정요청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584948" y="2433218"/>
            <a:ext cx="627644" cy="271028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근거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건축 초기 설계는 조건 충족과 의사결정의 반복입니다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005840" y="187451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1F2933"/>
                </a:solidFill>
                <a:latin typeface="Malgun Gothic"/>
              </a:defRPr>
            </a:pPr>
            <a:r>
              <a:t>1. 서론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5840" y="2532887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0">
                <a:solidFill>
                  <a:srgbClr val="1F2933"/>
                </a:solidFill>
                <a:latin typeface="Malgun Gothic"/>
              </a:defRPr>
            </a:pPr>
            <a:r>
              <a:t>2. 선행 연구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05840" y="3191256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0">
                <a:solidFill>
                  <a:srgbClr val="1F2933"/>
                </a:solidFill>
                <a:latin typeface="Malgun Gothic"/>
              </a:defRPr>
            </a:pPr>
            <a:r>
              <a:t>3. 문제 제기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05840" y="384962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0">
                <a:solidFill>
                  <a:srgbClr val="1F2933"/>
                </a:solidFill>
                <a:latin typeface="Malgun Gothic"/>
              </a:defRPr>
            </a:pPr>
            <a:r>
              <a:t>4. 연구 설계 방향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5840" y="45079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0">
                <a:solidFill>
                  <a:srgbClr val="1F2933"/>
                </a:solidFill>
                <a:latin typeface="Malgun Gothic"/>
              </a:defRPr>
            </a:pPr>
            <a:r>
              <a:t>5. 결론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846320" y="20574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법규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806440" y="2322576"/>
            <a:ext cx="219456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6089904" y="20574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대지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050024" y="2322576"/>
            <a:ext cx="219455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7333488" y="20574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주차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8293608" y="2322576"/>
            <a:ext cx="219455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8577072" y="20574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일조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9537192" y="2322576"/>
            <a:ext cx="219456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9820656" y="20574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용적률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0780776" y="2322576"/>
            <a:ext cx="219456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11064240" y="20574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형태</a:t>
            </a:r>
          </a:p>
        </p:txBody>
      </p:sp>
      <p:cxnSp>
        <p:nvCxnSpPr>
          <p:cNvPr id="111" name="Connector 110"/>
          <p:cNvCxnSpPr/>
          <p:nvPr/>
        </p:nvCxnSpPr>
        <p:spPr>
          <a:xfrm flipV="1">
            <a:off x="6492240" y="3841394"/>
            <a:ext cx="1247241" cy="538582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739481" y="3841394"/>
            <a:ext cx="1587399" cy="538582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8079638" y="4379976"/>
            <a:ext cx="1247242" cy="612282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 flipV="1">
            <a:off x="6492240" y="4379976"/>
            <a:ext cx="1587398" cy="612282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7059168" y="3926433"/>
            <a:ext cx="680313" cy="198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739481" y="3926433"/>
            <a:ext cx="311811" cy="13039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7370978" y="4056827"/>
            <a:ext cx="680314" cy="19275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 flipV="1">
            <a:off x="7059168" y="4124858"/>
            <a:ext cx="311810" cy="1247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7059168" y="3444544"/>
            <a:ext cx="0" cy="680314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7739481" y="3246120"/>
            <a:ext cx="0" cy="680313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051292" y="3376513"/>
            <a:ext cx="0" cy="680314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370978" y="3569268"/>
            <a:ext cx="0" cy="680314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7059168" y="3246120"/>
            <a:ext cx="680313" cy="198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7739481" y="3246120"/>
            <a:ext cx="311811" cy="13039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7370978" y="3376513"/>
            <a:ext cx="680314" cy="19275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 flipV="1">
            <a:off x="7059168" y="3444544"/>
            <a:ext cx="311810" cy="1247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626096" y="3756355"/>
            <a:ext cx="765352" cy="198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391448" y="3756355"/>
            <a:ext cx="311811" cy="13039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7937906" y="3886748"/>
            <a:ext cx="765353" cy="192756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 flipV="1">
            <a:off x="7626096" y="3954780"/>
            <a:ext cx="311810" cy="1247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626096" y="2991002"/>
            <a:ext cx="0" cy="96377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8391448" y="2792577"/>
            <a:ext cx="0" cy="96377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703259" y="2922971"/>
            <a:ext cx="0" cy="963777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7937906" y="3115726"/>
            <a:ext cx="0" cy="96377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7626096" y="2792577"/>
            <a:ext cx="765352" cy="198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391448" y="2792577"/>
            <a:ext cx="311811" cy="13039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7937906" y="2922971"/>
            <a:ext cx="765353" cy="19275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 flipV="1">
            <a:off x="7626096" y="2991002"/>
            <a:ext cx="311810" cy="1247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193023" y="3983126"/>
            <a:ext cx="623621" cy="198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16644" y="3983126"/>
            <a:ext cx="311811" cy="13039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>
            <a:off x="8504834" y="4113519"/>
            <a:ext cx="623621" cy="192756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 flipV="1">
            <a:off x="8193023" y="4181551"/>
            <a:ext cx="311811" cy="1247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193023" y="3614623"/>
            <a:ext cx="0" cy="56692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8816644" y="3416198"/>
            <a:ext cx="0" cy="56692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28455" y="3546591"/>
            <a:ext cx="0" cy="56692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8504834" y="3739347"/>
            <a:ext cx="0" cy="56692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8193023" y="3416198"/>
            <a:ext cx="623621" cy="198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816644" y="3416198"/>
            <a:ext cx="311811" cy="130393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8504834" y="3546591"/>
            <a:ext cx="623621" cy="192756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 flipV="1">
            <a:off x="8193023" y="3614623"/>
            <a:ext cx="311811" cy="1247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152083" y="4652101"/>
            <a:ext cx="1360627" cy="606613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945782" y="4652101"/>
            <a:ext cx="1360627" cy="606613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7909560" y="4652101"/>
            <a:ext cx="1360627" cy="606613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8873337" y="4652101"/>
            <a:ext cx="1360627" cy="606613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440265" y="4652101"/>
            <a:ext cx="1360627" cy="606613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6662318" y="3557930"/>
            <a:ext cx="1020470" cy="408188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7682788" y="3557930"/>
            <a:ext cx="1020471" cy="408188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816644" y="3557930"/>
            <a:ext cx="1020471" cy="408188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서론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초기 건축설계의 복잡성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대지 조건, 용도지역, 프로그램, 법규, 주차, 일조, 도로 조건이 동시에 작동합니다.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형태 생성보다 조건 충족과 검토 반복이 핵심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법규와 geometry가 서로 영향을 주는 구조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초기 단계에서 오류를 발견하지 못하면 수정 비용 증가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7512710" y="2861706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7150607" y="2940710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171078" y="2664195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7808975" y="2743200"/>
            <a:ext cx="362103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8829446" y="2927543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8467344" y="3006547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018934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257385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915753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689750" y="2282342"/>
            <a:ext cx="1185062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74812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191548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서론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건축 법규는 하나의 조항이 아닙니다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법, 시행령, 시행규칙, 주차장법, 조례, 용도지역 조건이 설계 객체 위에 겹쳐집니다.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건축법 → 시행령 → 시행규칙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주차장법 및 지자체 조례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도로·일조·사선·건폐율·용적률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7512710" y="2861706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7150607" y="2940710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171078" y="2664195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7808975" y="2743200"/>
            <a:ext cx="362103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8829446" y="2927543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8467344" y="3006547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018934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257385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915753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689750" y="2282342"/>
            <a:ext cx="1185062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74812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191548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서론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주차는 법규와 geometry가 만나는 대표 사례입니다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필요 주차 대수 산정과 실제 배치 가능성은 서로 다른 문제입니다.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법적 산정: 용도와 면적에 따른 필요 대수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공간 검토: 진입, 회전, 모듈, 기둥, 코어와 충돌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주차를 통과하지 못하면 설계안 전체가 흔들림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7512710" y="2861706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7150607" y="2940710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171078" y="2664195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7808975" y="2743200"/>
            <a:ext cx="362103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8829446" y="2927543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8467344" y="3006547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018934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257385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915753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689750" y="2282342"/>
            <a:ext cx="1185062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74812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191548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서론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기존 워크플로우는 생성과 검토가 분리되어 있습니다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설계안 작성 후 검토하고, 위반 발견 후 다시 수정하는 반복이 발생합니다.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설계안 생성 → 법규 검토 → 위반 발견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수정 후 다른 조건이 다시 깨지는 연쇄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검토 근거와 수정 이력이 남지 않음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7512710" y="2861706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7150607" y="2940710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171078" y="2664195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7808975" y="2743200"/>
            <a:ext cx="362103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8829446" y="2927543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8467344" y="3006547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018934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257385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915753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689750" y="2282342"/>
            <a:ext cx="1185062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74812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191548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서론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단일 생성 AI만으로는 부족합니다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그럴듯한 형태와 법적으로 설명 가능한 설계안은 다릅니다.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AI는 시각적으로 plausible한 대안을 만들 수 있음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하지만 조항 근거, 계산, geometry 검증을 보장하지 못함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검증 가능한 생성 구조가 필요함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481328" cy="2057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46720" y="2244852"/>
            <a:ext cx="1069847" cy="74066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58683" y="2985516"/>
            <a:ext cx="1357884" cy="41148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41948" y="2039112"/>
            <a:ext cx="123444" cy="106984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41948" y="3108960"/>
            <a:ext cx="864108" cy="102869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06056" y="3396996"/>
            <a:ext cx="452627" cy="74066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58683" y="3396996"/>
            <a:ext cx="1069849" cy="65836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263140" cy="201625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법규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882128" y="2080260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대지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951976" y="2820924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주차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594092" y="3232403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후보안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7356" y="29443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위반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41464" y="39730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수정요청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63940" y="3890772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근거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선행 연구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최신 연구는 네 방향으로 발전 중입니다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생성, 최적화, 제약조건 처리, 법규 검토 연구가 병렬로 진전되고 있습니다.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Optimization-based massing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Constraint-aware generation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Architectural 3D / diffusion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Code compliance / legal AI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481328" cy="2057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46720" y="2244852"/>
            <a:ext cx="1069847" cy="74066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58683" y="2985516"/>
            <a:ext cx="1357884" cy="41148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41948" y="2039112"/>
            <a:ext cx="123444" cy="106984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41948" y="3108960"/>
            <a:ext cx="864108" cy="102869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06056" y="3396996"/>
            <a:ext cx="452627" cy="74066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58683" y="3396996"/>
            <a:ext cx="1069849" cy="65836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263140" cy="201625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법규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882128" y="2080260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대지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951976" y="2820924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주차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594092" y="3232403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후보안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7356" y="29443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위반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41464" y="39730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수정요청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63940" y="3890772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근거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09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선행 연구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Optimization-Based Massing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Lou 2025, Wang 2024, EvoMass/SSIEA 계열은 후보안 탐색과 성능 비교를 보여줍니다.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강점: 다중 대안 생성과 성능 기반 비교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한계: 한국 법규 근거와 evidence 추적은 별도 문제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본 연구: 법규 Graph DB와 검증 루프에 통합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7512710" y="2861706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7150607" y="2940710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171078" y="2664195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7808975" y="2743200"/>
            <a:ext cx="362103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8829446" y="2927543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8467344" y="3006547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018934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257385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915753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689750" y="2282342"/>
            <a:ext cx="1185062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74812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191548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선행 연구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Constraint-Aware Generation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PGDM 2024, CDD 2025, PPR 2026은 생성 과정에 제약을 넣으려는 최신 흐름입니다.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강점: 생성 모델에 constraint를 결합하려는 시도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한계: 한국식 사선·일조·주차 등 복합 법규 적용은 미해결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본 연구: deterministic verifier와 repair loop를 사용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7512710" y="2861706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7150607" y="2940710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171078" y="2664195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7808975" y="2743200"/>
            <a:ext cx="362103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8829446" y="2927543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8467344" y="3006547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018934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257385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915753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689750" y="2282342"/>
            <a:ext cx="1185062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74812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191548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선행 연구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Architectural 3D / Diffusion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Tsai 2025, Zhang 2024, UniTEX 2026은 건축 3D와 외피 생성 가능성을 보여줍니다.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강점: 시각적 품질과 3D 표현력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한계: 법규 geometry를 보장하지 않음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본 연구: 법규 통과 mass 이후 시각화 단계로 연결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7512710" y="2861706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7150607" y="2940710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171078" y="2664195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7808975" y="2743200"/>
            <a:ext cx="362103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8829446" y="2927543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8467344" y="3006547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018934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257385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915753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689750" y="2282342"/>
            <a:ext cx="1185062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74812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191548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선행 연구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Code Compliance / Legal AI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LLM-FuncMapper, BuildThemis, LLM-assisted compliance는 법규 해석과 검토 자동화를 다룹니다.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강점: 법규 텍스트를 계산/검토로 연결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한계: 설계안 생성·수정·후보 lineage와 약하게 연결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본 연구: 법규 검토를 생성 루프 안에 배치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481328" cy="2057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46720" y="2244852"/>
            <a:ext cx="1069847" cy="74066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58683" y="2985516"/>
            <a:ext cx="1357884" cy="41148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41948" y="2039112"/>
            <a:ext cx="123444" cy="106984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41948" y="3108960"/>
            <a:ext cx="864108" cy="102869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06056" y="3396996"/>
            <a:ext cx="452627" cy="74066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58683" y="3396996"/>
            <a:ext cx="1069849" cy="65836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263140" cy="201625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법규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882128" y="2080260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대지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951976" y="2820924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주차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594092" y="3232403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후보안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7356" y="29443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위반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41464" y="39730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수정요청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63940" y="3890772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근거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문제 제기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연구 공백: 통합 루프가 부족합니다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생성, 검토, 근거, 수정, 협업이 하나의 설계 프로세스로 연결되어야 합니다.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형태 생성만으로는 부족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검토 시스템만으로도 부족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Evidence와 decision lineage가 필요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481328" cy="2057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46720" y="2244852"/>
            <a:ext cx="1069847" cy="74066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58683" y="2985516"/>
            <a:ext cx="1357884" cy="41148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41948" y="2039112"/>
            <a:ext cx="123444" cy="106984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41948" y="3108960"/>
            <a:ext cx="864108" cy="102869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06056" y="3396996"/>
            <a:ext cx="452627" cy="74066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58683" y="3396996"/>
            <a:ext cx="1069849" cy="65836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263140" cy="201625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법규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882128" y="2080260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대지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951976" y="2820924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주차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594092" y="3232403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후보안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7356" y="29443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위반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41464" y="39730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수정요청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63940" y="3890772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근거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문제 제기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문제 1: 법규 지식이 파편화되어 있습니다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법령, 시행령, 시행규칙, 조례, 대지 조건이 서로 다른 층위에 존재합니다.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문서 중심 저장은 관계 추적에 약함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어떤 조항이 어떤 후보안에 영향을 주는지 연결 필요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Graph DB 기반 구조화가 필요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481328" cy="2057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46720" y="2244852"/>
            <a:ext cx="1069847" cy="74066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58683" y="2985516"/>
            <a:ext cx="1357884" cy="41148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41948" y="2039112"/>
            <a:ext cx="123444" cy="106984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41948" y="3108960"/>
            <a:ext cx="864108" cy="102869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06056" y="3396996"/>
            <a:ext cx="452627" cy="74066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58683" y="3396996"/>
            <a:ext cx="1069849" cy="65836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263140" cy="201625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법규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882128" y="2080260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대지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951976" y="2820924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주차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594092" y="3232403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후보안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7356" y="29443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위반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41464" y="39730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수정요청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63940" y="3890772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근거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문제 제기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문제 2: 법규 조건은 geometry로 변환됩니다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건폐율, 용적률, 사선, 일조, 주차는 텍스트가 아니라 공간 조건으로 작동합니다.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법규 해석만으로는 충분하지 않음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수치 계산과 3D/2D geometry 검증이 필요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deterministic validator가 기준이 되어야 함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7512710" y="2861706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7150607" y="2940710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171078" y="2664195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7808975" y="2743200"/>
            <a:ext cx="362103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8829446" y="2927543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8467344" y="3006547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018934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257385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915753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689750" y="2282342"/>
            <a:ext cx="1185062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74812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191548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/>
          <p:nvPr/>
        </p:nvSpPr>
        <p:spPr>
          <a:xfrm>
            <a:off x="5989320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입력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6949440" y="5522976"/>
            <a:ext cx="219456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47"/>
          <p:cNvSpPr/>
          <p:nvPr/>
        </p:nvSpPr>
        <p:spPr>
          <a:xfrm>
            <a:off x="7232904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생성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8193024" y="5522976"/>
            <a:ext cx="219456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/>
          <p:cNvSpPr/>
          <p:nvPr/>
        </p:nvSpPr>
        <p:spPr>
          <a:xfrm>
            <a:off x="8476488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검증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9436608" y="5522976"/>
            <a:ext cx="219455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9720072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수정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10680192" y="5522976"/>
            <a:ext cx="219456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ounded Rectangle 153"/>
          <p:cNvSpPr/>
          <p:nvPr/>
        </p:nvSpPr>
        <p:spPr>
          <a:xfrm>
            <a:off x="10963656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근거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문제 제기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문제 3: 협업 없는 AI는 책임 경계가 흐립니다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법규 검토, 주차 검토, 형태 수정, 최종 판단은 성격이 다른 작업입니다.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단일 agent는 오류 원인을 분리하기 어려움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역할별 agent가 evidence를 남겨야 함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AI는 판단을 보조하고 검증은 도구가 수행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481328" cy="2057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46720" y="2244852"/>
            <a:ext cx="1069847" cy="74066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58683" y="2985516"/>
            <a:ext cx="1357884" cy="41148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41948" y="2039112"/>
            <a:ext cx="123444" cy="106984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41948" y="3108960"/>
            <a:ext cx="864108" cy="102869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06056" y="3396996"/>
            <a:ext cx="452627" cy="74066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58683" y="3396996"/>
            <a:ext cx="1069849" cy="65836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263140" cy="201625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법규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882128" y="2080260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대지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951976" y="2820924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주차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594092" y="3232403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후보안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7356" y="29443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위반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41464" y="39730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수정요청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63940" y="3890772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근거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연구 설계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제안 방법 개요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Graph DB, MAAS 생성기, deterministic validator, multi-agent review를 하나의 루프로 연결합니다.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PNU/대지 입력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법규 Graph DB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MAAS 후보안 생성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법규·주차·형태 검증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agent repair/review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evidence 저장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481328" cy="2057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46720" y="2244852"/>
            <a:ext cx="1069847" cy="74066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58683" y="2985516"/>
            <a:ext cx="1357884" cy="41148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41948" y="2039112"/>
            <a:ext cx="123444" cy="106984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41948" y="3108960"/>
            <a:ext cx="864108" cy="102869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06056" y="3396996"/>
            <a:ext cx="452627" cy="74066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58683" y="3396996"/>
            <a:ext cx="1069849" cy="65836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263140" cy="201625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법규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882128" y="2080260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대지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951976" y="2820924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주차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594092" y="3232403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후보안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7356" y="29443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위반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41464" y="39730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수정요청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63940" y="3890772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근거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연구 설계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Graph DB Evidence Model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법규, 대지, 후보안, 위반, 수정요청, evidence, decision을 관계로 저장합니다.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Parcel → Law Article → Constraint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Candidate → Violation → Repair Request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Agent Review → Evidence Artifact → Decision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481328" cy="2057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46720" y="2244852"/>
            <a:ext cx="1069847" cy="74066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58683" y="2985516"/>
            <a:ext cx="1357884" cy="41148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41948" y="2039112"/>
            <a:ext cx="123444" cy="106984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41948" y="3108960"/>
            <a:ext cx="864108" cy="102869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06056" y="3396996"/>
            <a:ext cx="452627" cy="74066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58683" y="3396996"/>
            <a:ext cx="1069849" cy="65836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263140" cy="201625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법규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882128" y="2080260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대지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951976" y="2820924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주차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594092" y="3232403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후보안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7356" y="29443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위반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41464" y="39730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수정요청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63940" y="3890772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근거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19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연구 설계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Multi-Agent Collaboration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에이전트는 geometry truth를 만들지 않고, 검증 도구와 evidence를 중심으로 협업합니다.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Law Agent: 조항과 근거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Parking Agent: 대수와 배치 가능성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MAAS/Geometry Agent: 후보 생성과 수정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Review Agent: 통과/실패와 근거 요약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481328" cy="2057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46720" y="2244852"/>
            <a:ext cx="1069847" cy="74066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58683" y="2985516"/>
            <a:ext cx="1357884" cy="41148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41948" y="2039112"/>
            <a:ext cx="123444" cy="106984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41948" y="3108960"/>
            <a:ext cx="864108" cy="102869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06056" y="3396996"/>
            <a:ext cx="452627" cy="74066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58683" y="3396996"/>
            <a:ext cx="1069849" cy="65836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263140" cy="201625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법규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882128" y="2080260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대지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951976" y="2820924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주차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594092" y="3232403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후보안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7356" y="29443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위반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41464" y="39730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수정요청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63940" y="3890772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근거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연구 설계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Generate–Verify–Repair Loop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후보안을 만들고, 검증하고, 위반을 repair request로 바꾸어 다시 생성합니다.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생성된 후보는 즉시 검증 대상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위반은 탈락 또는 수정 요청으로 기록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후보 lineage를 남겨 최종 선택 근거 확보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481328" cy="2057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46720" y="2244852"/>
            <a:ext cx="1069847" cy="74066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58683" y="2985516"/>
            <a:ext cx="1357884" cy="41148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41948" y="2039112"/>
            <a:ext cx="123444" cy="106984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41948" y="3108960"/>
            <a:ext cx="864108" cy="102869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06056" y="3396996"/>
            <a:ext cx="452627" cy="74066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58683" y="3396996"/>
            <a:ext cx="1069849" cy="65836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263140" cy="201625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법규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882128" y="2080260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대지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951976" y="2820924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주차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594092" y="3232403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후보안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7356" y="29443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위반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41464" y="39730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수정요청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63940" y="3890772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근거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21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연구 설계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Parking Evidence Loop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주차는 법규 계산과 실제 배치 가능성을 함께 검증하는 핵심 사례입니다.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법적 필요 대수 산정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layout feasibility 검토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실패 시 core/void/footprint repair 요청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565392" y="2039112"/>
            <a:ext cx="1481328" cy="20574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046720" y="2244852"/>
            <a:ext cx="1069847" cy="740664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758683" y="2985516"/>
            <a:ext cx="1357884" cy="411480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441948" y="2039112"/>
            <a:ext cx="123444" cy="1069848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441948" y="3108960"/>
            <a:ext cx="864108" cy="1028699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06056" y="3396996"/>
            <a:ext cx="452627" cy="740663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758683" y="3396996"/>
            <a:ext cx="1069849" cy="658367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6565392" y="2039112"/>
            <a:ext cx="2263140" cy="2016251"/>
          </a:xfrm>
          <a:prstGeom prst="line">
            <a:avLst/>
          </a:prstGeom>
          <a:ln w="12700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400800" y="1874519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법규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882128" y="2080260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대지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951976" y="2820924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주차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594092" y="3232403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후보안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77356" y="29443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위반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41464" y="3973068"/>
            <a:ext cx="724204" cy="3127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F2933"/>
                </a:solidFill>
                <a:latin typeface="Malgun Gothic"/>
              </a:defRPr>
            </a:pPr>
            <a:r>
              <a:t>수정요청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63940" y="3890772"/>
            <a:ext cx="724204" cy="312724"/>
          </a:xfrm>
          <a:prstGeom prst="roundRect">
            <a:avLst/>
          </a:prstGeom>
          <a:solidFill>
            <a:srgbClr val="0F4C3A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근거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22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연구 설계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구현 현황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현재 시스템은 MAAS 후보안 생성, section profile, parking graph, AG-light 협업 구조를 포함합니다.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MAAS benchmark 및 section-profile verification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parking graph/count/layout checks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Neo4j law/provenance graph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AG-light multi-agent team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7512710" y="2861706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7150607" y="2940710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171078" y="2664195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7808975" y="2743200"/>
            <a:ext cx="362103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8829446" y="2927543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8467344" y="3006547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018934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257385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915753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689750" y="2282342"/>
            <a:ext cx="1185062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74812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191548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/>
          <p:nvPr/>
        </p:nvSpPr>
        <p:spPr>
          <a:xfrm>
            <a:off x="5989320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입력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6949440" y="5522976"/>
            <a:ext cx="219456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47"/>
          <p:cNvSpPr/>
          <p:nvPr/>
        </p:nvSpPr>
        <p:spPr>
          <a:xfrm>
            <a:off x="7232904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생성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8193024" y="5522976"/>
            <a:ext cx="219456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/>
          <p:cNvSpPr/>
          <p:nvPr/>
        </p:nvSpPr>
        <p:spPr>
          <a:xfrm>
            <a:off x="8476488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검증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9436608" y="5522976"/>
            <a:ext cx="219455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9720072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수정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10680192" y="5522976"/>
            <a:ext cx="219456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ounded Rectangle 153"/>
          <p:cNvSpPr/>
          <p:nvPr/>
        </p:nvSpPr>
        <p:spPr>
          <a:xfrm>
            <a:off x="10963656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근거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23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연구 설계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검증 지표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현재 검증 결과는 후보 다양성과 법규 통과, section connector evidence를 중심으로 기록됩니다.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successful_scenarios = 4/4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feature_count = 80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scenario당 20 unique shapes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section_connector_feature_count = 11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legal_pass_rate = 1.0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7512710" y="2861706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7150607" y="2940710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171078" y="2664195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7808975" y="2743200"/>
            <a:ext cx="362103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8829446" y="2927543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8467344" y="3006547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018934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257385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915753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689750" y="2282342"/>
            <a:ext cx="1185062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74812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191548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/>
          <p:nvPr/>
        </p:nvSpPr>
        <p:spPr>
          <a:xfrm>
            <a:off x="5989320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입력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6949440" y="5522976"/>
            <a:ext cx="219456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47"/>
          <p:cNvSpPr/>
          <p:nvPr/>
        </p:nvSpPr>
        <p:spPr>
          <a:xfrm>
            <a:off x="7232904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생성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8193024" y="5522976"/>
            <a:ext cx="219456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/>
          <p:cNvSpPr/>
          <p:nvPr/>
        </p:nvSpPr>
        <p:spPr>
          <a:xfrm>
            <a:off x="8476488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검증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9436608" y="5522976"/>
            <a:ext cx="219455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9720072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수정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10680192" y="5522976"/>
            <a:ext cx="219456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ounded Rectangle 153"/>
          <p:cNvSpPr/>
          <p:nvPr/>
        </p:nvSpPr>
        <p:spPr>
          <a:xfrm>
            <a:off x="10963656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근거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24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연구 설계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평가 계획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생성 품질보다 “검증 가능한 설계안 생성”을 중심으로 평가합니다.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법규 통과율과 위반 감소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주차 배치 가능성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후보 다양성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evidence completeness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agent repair trace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7512710" y="2861706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7150607" y="2940710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171078" y="2664195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7808975" y="2743200"/>
            <a:ext cx="362103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8829446" y="2927543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8467344" y="3006547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018934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257385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915753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689750" y="2282342"/>
            <a:ext cx="1185062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74812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191548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/>
          <p:nvPr/>
        </p:nvSpPr>
        <p:spPr>
          <a:xfrm>
            <a:off x="5989320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입력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6949440" y="5522976"/>
            <a:ext cx="219456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47"/>
          <p:cNvSpPr/>
          <p:nvPr/>
        </p:nvSpPr>
        <p:spPr>
          <a:xfrm>
            <a:off x="7232904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생성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8193024" y="5522976"/>
            <a:ext cx="219456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/>
          <p:cNvSpPr/>
          <p:nvPr/>
        </p:nvSpPr>
        <p:spPr>
          <a:xfrm>
            <a:off x="8476488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검증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9436608" y="5522976"/>
            <a:ext cx="219455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9720072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수정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10680192" y="5522976"/>
            <a:ext cx="219456" cy="0"/>
          </a:xfrm>
          <a:prstGeom prst="line">
            <a:avLst/>
          </a:prstGeom>
          <a:ln w="1524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ounded Rectangle 153"/>
          <p:cNvSpPr/>
          <p:nvPr/>
        </p:nvSpPr>
        <p:spPr>
          <a:xfrm>
            <a:off x="10963656" y="5257800"/>
            <a:ext cx="960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933"/>
                </a:solidFill>
                <a:latin typeface="Malgun Gothic"/>
              </a:defRPr>
            </a:pPr>
            <a:r>
              <a:t>근거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결론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기대 효과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초기 설계 단계에서 법규 위반을 조기에 발견하고, 검토 근거를 추적할 수 있습니다.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설계안 생성과 검토의 통합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법규 검토 근거의 시각화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후보안 수정 이력과 최종 decision 추적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설계자-AI 협업 가능성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7512710" y="2861706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7150607" y="2940710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171078" y="2664195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7808975" y="2743200"/>
            <a:ext cx="362103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8829446" y="2927543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8467344" y="3006547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018934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257385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915753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689750" y="2282342"/>
            <a:ext cx="1185062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74812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191548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26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결론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연구 기여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본 연구의 기여는 알고리즘 발명이 아니라 건축설계 검증 프로세스의 통합 구조입니다.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한국 건축 법규 Graph DB 구조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deterministic verifier 기반 생성-검증 루프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multi-agent 협업형 repair/review workflow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evidence와 candidate lineage 모델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7512710" y="2861706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7150607" y="2940710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171078" y="2664195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7808975" y="2743200"/>
            <a:ext cx="362103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8829446" y="2927543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8467344" y="3006547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018934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257385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915753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689750" y="2282342"/>
            <a:ext cx="1185062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74812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191548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114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17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836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939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146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249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352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455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558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764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867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970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074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280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383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486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89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02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05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4146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5177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6208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8271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302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333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1364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2396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3427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4458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5489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7552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8583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9614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0645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2708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137392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347704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558016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68328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978640" y="201168"/>
            <a:ext cx="0" cy="6455664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" y="2011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01168" y="4114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1168" y="6217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1168" y="8321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1168" y="10424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1168" y="12527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01168" y="146304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01168" y="167335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01168" y="188366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01168" y="209397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1168" y="230428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168" y="251460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1168" y="272491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1168" y="293522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" y="314553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1168" y="335584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1168" y="356616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01168" y="377647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01168" y="398678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01168" y="419709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1168" y="440740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1168" y="461772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" y="482803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" y="503834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1168" y="524865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1168" y="545896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1168" y="5669280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1168" y="5879592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" y="6089904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1168" y="6300216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1168" y="6510528"/>
            <a:ext cx="11786616" cy="0"/>
          </a:xfrm>
          <a:prstGeom prst="line">
            <a:avLst/>
          </a:prstGeom>
          <a:ln w="5715">
            <a:solidFill>
              <a:srgbClr val="E9E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A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5E6B65"/>
                </a:solidFill>
                <a:latin typeface="Malgun Gothic"/>
              </a:defRPr>
            </a:pPr>
            <a:r>
              <a:t>ACE Proposal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5E6B65"/>
                </a:solidFill>
                <a:latin typeface="Malgun Gothic"/>
              </a:defRPr>
            </a:pPr>
            <a:r>
              <a:t>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84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4C3A"/>
                </a:solidFill>
                <a:latin typeface="Malgun Gothic"/>
              </a:defRPr>
            </a:pPr>
            <a:r>
              <a:t>결론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62179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1F2933"/>
                </a:solidFill>
                <a:latin typeface="Malgun Gothic"/>
              </a:defRPr>
            </a:pPr>
            <a:r>
              <a:t>결론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1243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E6B65"/>
                </a:solidFill>
                <a:latin typeface="Malgun Gothic"/>
              </a:defRPr>
            </a:pPr>
            <a:r>
              <a:t>건축설계 자동화의 목표는 단순 생성이 아니라 검증 가능한 생성입니다.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0352" y="1627632"/>
            <a:ext cx="11082528" cy="0"/>
          </a:xfrm>
          <a:prstGeom prst="line">
            <a:avLst/>
          </a:prstGeom>
          <a:ln w="12700">
            <a:solidFill>
              <a:srgbClr val="DA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31520" y="2057400"/>
            <a:ext cx="50749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법규와 geometry를 함께 다루는 설계 자동화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Graph DB 기반 근거 추적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협업형 multi-agent 설계 검증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Malgun Gothic"/>
              </a:defRPr>
            </a:pPr>
            <a:r>
              <a:t>초기 설계안 생성·검토 프로세스 확장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492240" y="2611526"/>
            <a:ext cx="1448409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649" y="2611526"/>
            <a:ext cx="1843431" cy="625450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335670" y="3236976"/>
            <a:ext cx="144841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492240" y="3236976"/>
            <a:ext cx="1843430" cy="711037"/>
          </a:xfrm>
          <a:prstGeom prst="line">
            <a:avLst/>
          </a:prstGeom>
          <a:ln w="2286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150607" y="2710281"/>
            <a:ext cx="790042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40649" y="2710281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7512710" y="2861706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7150607" y="2940710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50607" y="2150668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940649" y="1920240"/>
            <a:ext cx="0" cy="790041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302752" y="2071664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512710" y="2295509"/>
            <a:ext cx="0" cy="790042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50607" y="1920240"/>
            <a:ext cx="790042" cy="230428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40649" y="1920240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512710" y="2071664"/>
            <a:ext cx="790042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7150607" y="2150668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808975" y="2512771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97772" y="2512771"/>
            <a:ext cx="362103" cy="151424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171078" y="2664195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7808975" y="2743200"/>
            <a:ext cx="362103" cy="144840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808975" y="1623974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697772" y="1393545"/>
            <a:ext cx="0" cy="1119226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59875" y="1544970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171078" y="1768815"/>
            <a:ext cx="0" cy="1119225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08975" y="1393545"/>
            <a:ext cx="888797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97772" y="1393545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171078" y="1544970"/>
            <a:ext cx="888797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808975" y="1623974"/>
            <a:ext cx="362103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467344" y="2776118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191548" y="2776118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8829446" y="2927543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8467344" y="3006547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467344" y="2348179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91548" y="211775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651" y="2269175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829446" y="2493020"/>
            <a:ext cx="0" cy="658368"/>
          </a:xfrm>
          <a:prstGeom prst="line">
            <a:avLst/>
          </a:prstGeom>
          <a:ln w="1397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467344" y="2117750"/>
            <a:ext cx="724204" cy="230429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191548" y="2117750"/>
            <a:ext cx="362103" cy="15142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8829446" y="2269175"/>
            <a:ext cx="724205" cy="223845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8467344" y="2348179"/>
            <a:ext cx="362102" cy="144841"/>
          </a:xfrm>
          <a:prstGeom prst="line">
            <a:avLst/>
          </a:prstGeom>
          <a:ln w="17780">
            <a:solidFill>
              <a:srgbClr val="0F4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097219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7018934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138159" y="3552992"/>
            <a:ext cx="1580084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257385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915753" y="3552992"/>
            <a:ext cx="1580083" cy="704454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689750" y="2282342"/>
            <a:ext cx="1185062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74812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191548" y="2282342"/>
            <a:ext cx="1185063" cy="474025"/>
          </a:xfrm>
          <a:prstGeom prst="line">
            <a:avLst/>
          </a:prstGeom>
          <a:ln w="9525">
            <a:solidFill>
              <a:srgbClr val="DAE0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