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Malgun Gothic"/>
              </a:defRPr>
            </a:pPr>
            <a:r>
              <a:t>MAAS: Law-Constrained Architectural Massing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78992"/>
            <a:ext cx="7955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Malgun Gothic"/>
              </a:defRPr>
            </a:pPr>
            <a:r>
              <a:t>LLM prompt가 아니라, 언어 표현 + 생성문법 + 법규 solver + agent negotiation + verifier loop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331720"/>
            <a:ext cx="1325880" cy="74980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Language</a:t>
            </a:r>
            <a:br/>
            <a:r>
              <a:t>Ontology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37943" y="2706624"/>
            <a:ext cx="274321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148840" y="2331720"/>
            <a:ext cx="1325880" cy="749808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MassDSL</a:t>
            </a:r>
            <a:br/>
            <a:r>
              <a:t>Representation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83864" y="2706624"/>
            <a:ext cx="27432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794760" y="2331720"/>
            <a:ext cx="1325880" cy="749808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Rule</a:t>
            </a:r>
            <a:br/>
            <a:r>
              <a:t>Compiler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129784" y="2706624"/>
            <a:ext cx="27432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40680" y="2331720"/>
            <a:ext cx="1325880" cy="749808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Legal/Parking</a:t>
            </a:r>
            <a:br/>
            <a:r>
              <a:t>Hard Gates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775704" y="2706624"/>
            <a:ext cx="27432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086600" y="2331720"/>
            <a:ext cx="1325880" cy="749808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Critic +</a:t>
            </a:r>
            <a:br/>
            <a:r>
              <a:t>Revision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7680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Malgun Gothic"/>
              </a:defRPr>
            </a:pPr>
            <a:r>
              <a:t>연구 질문: 법규를 지키면서도 설명 가능한 건축언어 조합과 다양한 mass alternative를 만들 수 있는가?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0. 오해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30936"/>
            <a:ext cx="8138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LLM에 건축 단어를 넣는 것은 입력 단계일 뿐, 연구 방법론의 끝이 아님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566160" cy="5029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약한 주장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84831"/>
            <a:ext cx="32461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algun Gothic"/>
              </a:defRPr>
            </a:pPr>
            <a:r>
              <a:t>LLM에게 courtyard, split, roof 같은 단어를 주고</a:t>
            </a:r>
            <a:br/>
            <a:r>
              <a:t>그럴듯한 도형을 생성한다.</a:t>
            </a:r>
            <a:br/>
            <a:br/>
            <a:r>
              <a:t>문제: 법규 truth, 주차, repair, 실패 이유,</a:t>
            </a:r>
            <a:br/>
            <a:r>
              <a:t>재현 가능한 grammar가 없다.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92040" y="1417320"/>
            <a:ext cx="3566160" cy="50292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강한 주장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084831"/>
            <a:ext cx="32461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algun Gothic"/>
              </a:defRPr>
            </a:pPr>
            <a:r>
              <a:t>건축언어를 MassDSL로 표현하고,</a:t>
            </a:r>
            <a:br/>
            <a:r>
              <a:t>rule compiler가 source geometry로 번역하며,</a:t>
            </a:r>
            <a:br/>
            <a:r>
              <a:t>법규/주차 solver와 critic이 반복 수정한다.</a:t>
            </a:r>
            <a:br/>
            <a:br/>
            <a:r>
              <a:t>결과는 PNG가 아니라 JSON evidence로도 설명된다.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65960" y="3977639"/>
            <a:ext cx="5212080" cy="502920"/>
          </a:xfrm>
          <a:prstGeom prst="roundRect">
            <a:avLst/>
          </a:prstGeom>
          <a:solidFill>
            <a:srgbClr val="BE123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핵심은 prompt가 아니라 representation + compiler + verifier + revision loop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1. 논문/참조코드에서 가져온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30936"/>
            <a:ext cx="8138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정확한 복제보다 구조적 흡수: 표현, 생성, 평가, 반복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1828800" cy="438912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EvoMass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78608" y="1143000"/>
            <a:ext cx="2743200" cy="43891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0F172A"/>
                </a:solidFill>
                <a:latin typeface="Malgun Gothic"/>
              </a:defRPr>
            </a:pPr>
            <a:r>
              <a:t>typology-oriented exploration + population search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143000"/>
            <a:ext cx="3017520" cy="438912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LLM population + island quotas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56232"/>
            <a:ext cx="1828800" cy="438912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Urban Massing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78608" y="1856232"/>
            <a:ext cx="2743200" cy="43891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0F172A"/>
                </a:solidFill>
                <a:latin typeface="Malgun Gothic"/>
              </a:defRPr>
            </a:pPr>
            <a:r>
              <a:t>massing and layout variation must co-evolve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856232"/>
            <a:ext cx="3017520" cy="438912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parking -&gt; LLM language revision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69464"/>
            <a:ext cx="1828800" cy="438912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Add/Subtract Massing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78608" y="2569464"/>
            <a:ext cx="2743200" cy="43891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0F172A"/>
                </a:solidFill>
                <a:latin typeface="Malgun Gothic"/>
              </a:defRPr>
            </a:pPr>
            <a:r>
              <a:t>form generation principles create topological variability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2569464"/>
            <a:ext cx="3017520" cy="438912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rule_priors + source geometry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82696"/>
            <a:ext cx="1828800" cy="438912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Agents SDK / GitAgent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78608" y="3282696"/>
            <a:ext cx="2743200" cy="43891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0F172A"/>
                </a:solidFill>
                <a:latin typeface="Malgun Gothic"/>
              </a:defRPr>
            </a:pPr>
            <a:r>
              <a:t>handoffs, tools, traces, repo-native agent identity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0" y="3282696"/>
            <a:ext cx="3017520" cy="438912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agent.yaml + SOUL/RULES/memory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5196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0F172A"/>
                </a:solidFill>
                <a:latin typeface="Malgun Gothic"/>
              </a:defRPr>
            </a:pPr>
            <a:r>
              <a:t>따라서 발표 핵심은 'LLM이 만들었다'가 아니라 '논문 방법론의 어느 layer가 어느 agent/evidence로 구현됐는가'다.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2. 표현 계층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30936"/>
            <a:ext cx="8138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텍스트 언어가 바로 geometry가 되지 않고, 단계별 contract를 통과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234440"/>
            <a:ext cx="1417320" cy="65836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Architectural</a:t>
            </a:r>
            <a:br/>
            <a:r>
              <a:t>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084831"/>
            <a:ext cx="1508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" b="0">
                <a:solidFill>
                  <a:srgbClr val="0F172A"/>
                </a:solidFill>
                <a:latin typeface="Malgun Gothic"/>
              </a:defRPr>
            </a:pPr>
            <a:r>
              <a:t>courtyard, branch, roof, split, interlock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56232" y="1563624"/>
            <a:ext cx="265176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148840" y="1234440"/>
            <a:ext cx="1417320" cy="658368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MassDSL</a:t>
            </a:r>
            <a:br/>
            <a:r>
              <a:t>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084831"/>
            <a:ext cx="1508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" b="0">
                <a:solidFill>
                  <a:srgbClr val="0F172A"/>
                </a:solidFill>
                <a:latin typeface="Malgun Gothic"/>
              </a:defRPr>
            </a:pPr>
            <a:r>
              <a:t>base -&gt; split -&gt; bridge -&gt; void -&gt; roof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93592" y="1563624"/>
            <a:ext cx="265176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86200" y="1234440"/>
            <a:ext cx="1417320" cy="658368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Rule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084831"/>
            <a:ext cx="1508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" b="0">
                <a:solidFill>
                  <a:srgbClr val="0F172A"/>
                </a:solidFill>
                <a:latin typeface="Malgun Gothic"/>
              </a:defRPr>
            </a:pPr>
            <a:r>
              <a:t>rule_name, authored params, prior params, actions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30952" y="1563624"/>
            <a:ext cx="265176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623559" y="1234440"/>
            <a:ext cx="1417320" cy="658368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Source</a:t>
            </a:r>
            <a:br/>
            <a:r>
              <a:t>Geometry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084831"/>
            <a:ext cx="1508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" b="0">
                <a:solidFill>
                  <a:srgbClr val="0F172A"/>
                </a:solidFill>
                <a:latin typeface="Malgun Gothic"/>
              </a:defRPr>
            </a:pPr>
            <a:r>
              <a:t>volumes, surfaces, primitive roles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68312" y="1563624"/>
            <a:ext cx="265176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60919" y="1234440"/>
            <a:ext cx="1417320" cy="658368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Legalized</a:t>
            </a:r>
            <a:br/>
            <a:r>
              <a:t>Mass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199" y="2084831"/>
            <a:ext cx="1508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" b="0">
                <a:solidFill>
                  <a:srgbClr val="0F172A"/>
                </a:solidFill>
                <a:latin typeface="Malgun Gothic"/>
              </a:defRPr>
            </a:pPr>
            <a:r>
              <a:t>FAR/BCR/height/parking checked candidate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63040" y="3794760"/>
            <a:ext cx="6217920" cy="475488"/>
          </a:xfrm>
          <a:prstGeom prst="roundRect">
            <a:avLst/>
          </a:prstGeom>
          <a:solidFill>
            <a:srgbClr val="BE123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각 계층은 JSON evidence로 남아야 하고, 빠진 계층은 verifier failure가 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3. Multi-Agent Constraint Negotiation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30936"/>
            <a:ext cx="8138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주차 agent와 mass agent 협업은 가능하며, 이 루프가 연구 핵심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078992"/>
            <a:ext cx="1078992" cy="566928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950" b="1">
                <a:solidFill>
                  <a:srgbClr val="FFFFFF"/>
                </a:solidFill>
                <a:latin typeface="Malgun Gothic"/>
              </a:defRPr>
            </a:pPr>
            <a:r>
              <a:t>Law</a:t>
            </a:r>
            <a:br/>
            <a:r>
              <a:t>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72768" y="1078992"/>
            <a:ext cx="1078992" cy="566928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950" b="1">
                <a:solidFill>
                  <a:srgbClr val="FFFFFF"/>
                </a:solidFill>
                <a:latin typeface="Malgun Gothic"/>
              </a:defRPr>
            </a:pPr>
            <a:r>
              <a:t>Parking</a:t>
            </a:r>
            <a:br/>
            <a:r>
              <a:t>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25496" y="1078992"/>
            <a:ext cx="1078992" cy="566928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950" b="1">
                <a:solidFill>
                  <a:srgbClr val="FFFFFF"/>
                </a:solidFill>
                <a:latin typeface="Malgun Gothic"/>
              </a:defRPr>
            </a:pPr>
            <a:r>
              <a:t>LLM</a:t>
            </a:r>
            <a:br/>
            <a:r>
              <a:t>Architect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78224" y="1078992"/>
            <a:ext cx="1078992" cy="566928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950" b="1">
                <a:solidFill>
                  <a:srgbClr val="FFFFFF"/>
                </a:solidFill>
                <a:latin typeface="Malgun Gothic"/>
              </a:defRPr>
            </a:pPr>
            <a:r>
              <a:t>MassDSL</a:t>
            </a:r>
            <a:br/>
            <a:r>
              <a:t>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0952" y="1078992"/>
            <a:ext cx="1078992" cy="56692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950" b="1">
                <a:solidFill>
                  <a:srgbClr val="FFFFFF"/>
                </a:solidFill>
                <a:latin typeface="Malgun Gothic"/>
              </a:defRPr>
            </a:pPr>
            <a:r>
              <a:t>Geometry</a:t>
            </a:r>
            <a:br/>
            <a:r>
              <a:t>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078992"/>
            <a:ext cx="1078992" cy="566928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950" b="1">
                <a:solidFill>
                  <a:srgbClr val="FFFFFF"/>
                </a:solidFill>
                <a:latin typeface="Malgun Gothic"/>
              </a:defRPr>
            </a:pPr>
            <a:r>
              <a:t>Critic</a:t>
            </a:r>
            <a:br/>
            <a:r>
              <a:t>Agent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7320" y="1362456"/>
            <a:ext cx="13716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670048" y="1362456"/>
            <a:ext cx="13716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922776" y="1362456"/>
            <a:ext cx="13716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175504" y="1362456"/>
            <a:ext cx="13716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28232" y="1362456"/>
            <a:ext cx="13716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2651760" y="1737360"/>
            <a:ext cx="4480560" cy="1691640"/>
          </a:xfrm>
          <a:prstGeom prst="line">
            <a:avLst/>
          </a:prstGeom>
          <a:ln w="25400">
            <a:solidFill>
              <a:srgbClr val="BE1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2240280"/>
            <a:ext cx="7680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0F172A"/>
                </a:solidFill>
                <a:latin typeface="Malgun Gothic"/>
              </a:defRPr>
            </a:pPr>
            <a:r>
              <a:t>예: 주차 실패 -&gt; parking agent가 필로티/기계식/drive aisle 요구 -&gt; LLM architect가 언어 수정 -&gt; MassDSL/geometry가 재컴파일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154680"/>
            <a:ext cx="1828800" cy="502920"/>
          </a:xfrm>
          <a:prstGeom prst="roundRect">
            <a:avLst/>
          </a:prstGeom>
          <a:solidFill>
            <a:srgbClr val="BE123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parking fail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3154680"/>
            <a:ext cx="1828800" cy="50292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revise MassDSL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154680"/>
            <a:ext cx="1828800" cy="502920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recheck law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761488" y="3401568"/>
            <a:ext cx="877824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504688" y="3401568"/>
            <a:ext cx="877824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" y="4297680"/>
            <a:ext cx="7680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현재 구현은 순차 flow가 강함. 다음 단계는 shared state 기반 bidirectional revision loop.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4. Agent 폴더 구조와 책임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30936"/>
            <a:ext cx="8138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각 agent는 agent.py / card.py / contract.py를 가진 독립 패키지로 유지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1828800" cy="384048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819" b="1">
                <a:solidFill>
                  <a:srgbClr val="FFFFFF"/>
                </a:solidFill>
                <a:latin typeface="Malgun Gothic"/>
              </a:defRPr>
            </a:pPr>
            <a:r>
              <a:t>law_graph_agent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2704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 b="0">
                <a:solidFill>
                  <a:srgbClr val="0F172A"/>
                </a:solidFill>
                <a:latin typeface="Malgun Gothic"/>
              </a:defRPr>
            </a:pPr>
            <a:r>
              <a:t>법규 truth</a:t>
            </a:r>
            <a:br/>
            <a:r>
              <a:t>FAR/BCR/height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1051560"/>
            <a:ext cx="1828800" cy="384048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819" b="1">
                <a:solidFill>
                  <a:srgbClr val="FFFFFF"/>
                </a:solidFill>
                <a:latin typeface="Malgun Gothic"/>
              </a:defRPr>
            </a:pPr>
            <a:r>
              <a:t>parking_agent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152704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 b="0">
                <a:solidFill>
                  <a:srgbClr val="0F172A"/>
                </a:solidFill>
                <a:latin typeface="Malgun Gothic"/>
              </a:defRPr>
            </a:pPr>
            <a:r>
              <a:t>주차 산정</a:t>
            </a:r>
            <a:br/>
            <a:r>
              <a:t>mass-stage precheck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1051560"/>
            <a:ext cx="1828800" cy="384048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819" b="1">
                <a:solidFill>
                  <a:srgbClr val="FFFFFF"/>
                </a:solidFill>
                <a:latin typeface="Malgun Gothic"/>
              </a:defRPr>
            </a:pPr>
            <a:r>
              <a:t>llm_architect_agent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52704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 b="0">
                <a:solidFill>
                  <a:srgbClr val="0F172A"/>
                </a:solidFill>
                <a:latin typeface="Malgun Gothic"/>
              </a:defRPr>
            </a:pPr>
            <a:r>
              <a:t>LLM 건축언어</a:t>
            </a:r>
            <a:br/>
            <a:r>
              <a:t>primary/secondary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051560"/>
            <a:ext cx="1828800" cy="384048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819" b="1">
                <a:solidFill>
                  <a:srgbClr val="FFFFFF"/>
                </a:solidFill>
                <a:latin typeface="Malgun Gothic"/>
              </a:defRPr>
            </a:pPr>
            <a:r>
              <a:t>massdsl_agent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52704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 b="0">
                <a:solidFill>
                  <a:srgbClr val="0F172A"/>
                </a:solidFill>
                <a:latin typeface="Malgun Gothic"/>
              </a:defRPr>
            </a:pPr>
            <a:r>
              <a:t>언어 -&gt; MassDSL</a:t>
            </a:r>
            <a:br/>
            <a:r>
              <a:t>parameter source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167128"/>
            <a:ext cx="1828800" cy="384048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819" b="1">
                <a:solidFill>
                  <a:srgbClr val="FFFFFF"/>
                </a:solidFill>
                <a:latin typeface="Malgun Gothic"/>
              </a:defRPr>
            </a:pPr>
            <a:r>
              <a:t>maas_geometry_agent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42616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 b="0">
                <a:solidFill>
                  <a:srgbClr val="0F172A"/>
                </a:solidFill>
                <a:latin typeface="Malgun Gothic"/>
              </a:defRPr>
            </a:pPr>
            <a:r>
              <a:t>MassDSL -&gt; source</a:t>
            </a:r>
            <a:br/>
            <a:r>
              <a:t>geometry/repair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2167128"/>
            <a:ext cx="1828800" cy="384048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819" b="1">
                <a:solidFill>
                  <a:srgbClr val="FFFFFF"/>
                </a:solidFill>
                <a:latin typeface="Malgun Gothic"/>
              </a:defRPr>
            </a:pPr>
            <a:r>
              <a:t>grammar_critic_agent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2642616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 b="0">
                <a:solidFill>
                  <a:srgbClr val="0F172A"/>
                </a:solidFill>
                <a:latin typeface="Malgun Gothic"/>
              </a:defRPr>
            </a:pPr>
            <a:r>
              <a:t>언어/질서/evidence</a:t>
            </a:r>
            <a:br/>
            <a:r>
              <a:t>critic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2167128"/>
            <a:ext cx="1828800" cy="384048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819" b="1">
                <a:solidFill>
                  <a:srgbClr val="FFFFFF"/>
                </a:solidFill>
                <a:latin typeface="Malgun Gothic"/>
              </a:defRPr>
            </a:pPr>
            <a:r>
              <a:t>review_agent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642616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 b="0">
                <a:solidFill>
                  <a:srgbClr val="0F172A"/>
                </a:solidFill>
                <a:latin typeface="Malgun Gothic"/>
              </a:defRPr>
            </a:pPr>
            <a:r>
              <a:t>최종 판단</a:t>
            </a:r>
            <a:br/>
            <a:r>
              <a:t>failure summary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3977639"/>
            <a:ext cx="7132320" cy="502920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공통: shared/types.py + shared/registry.py + orchestrator/flow.py가 연결 계약을 고정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5. Rule-Based Source Geometry Compiler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30936"/>
            <a:ext cx="8138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LLM이 낸 언어를 바로 박스로 그리지 않고 rule prior와 authored parameter를 분리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1874519" cy="53035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LLM Authored</a:t>
            </a:r>
            <a:br/>
            <a:r>
              <a:t>Params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1143000"/>
            <a:ext cx="1874519" cy="530352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Architectural</a:t>
            </a:r>
            <a:br/>
            <a:r>
              <a:t>Rule Priors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60" y="1143000"/>
            <a:ext cx="1874519" cy="530352"/>
          </a:xfrm>
          <a:prstGeom prst="roundRect">
            <a:avLst/>
          </a:prstGeom>
          <a:solidFill>
            <a:srgbClr val="BE123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Invalid / Missing</a:t>
            </a:r>
            <a:br/>
            <a:r>
              <a:t>Params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87168" y="1408176"/>
            <a:ext cx="36576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73168" y="1408176"/>
            <a:ext cx="36576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2240280"/>
            <a:ext cx="7680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Malgun Gothic"/>
              </a:defRPr>
            </a:pPr>
            <a:r>
              <a:t>compiler output = source volumes + source surfaces + rule_evidence + source_signature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3429000"/>
            <a:ext cx="1325880" cy="32004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courtyard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3429000"/>
            <a:ext cx="1325880" cy="32004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split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6200" y="3429000"/>
            <a:ext cx="1325880" cy="32004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interlock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49240" y="3429000"/>
            <a:ext cx="1508760" cy="32004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sloped_roof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95160" y="3429000"/>
            <a:ext cx="1325880" cy="32004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5196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E123C"/>
                </a:solidFill>
                <a:latin typeface="Malgun Gothic"/>
              </a:defRPr>
            </a:pPr>
            <a:r>
              <a:t>숫자 fallback은 숨기지 않고 rule_prior_params로 evidence화해야 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6. 법규와 주차는 Hard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30936"/>
            <a:ext cx="8138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LLM이나 mass agent가 통과 여부를 선언하지 않는다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2057400" cy="502920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FAR</a:t>
            </a:r>
            <a:br/>
            <a:r>
              <a:t>legal solver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143000"/>
            <a:ext cx="2057400" cy="502920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BCR</a:t>
            </a:r>
            <a:br/>
            <a:r>
              <a:t>legal solver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143000"/>
            <a:ext cx="2057400" cy="502920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Height</a:t>
            </a:r>
            <a:br/>
            <a:r>
              <a:t>legal solver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2057400" cy="502920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Sunlight</a:t>
            </a:r>
            <a:br/>
            <a:r>
              <a:t>envelope/clip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057400"/>
            <a:ext cx="2057400" cy="50292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Parking Count</a:t>
            </a:r>
            <a:br/>
            <a:r>
              <a:t>parking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057400"/>
            <a:ext cx="2057400" cy="50292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Mass-Stage Parking</a:t>
            </a:r>
            <a:br/>
            <a:r>
              <a:t>precheck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3429000"/>
            <a:ext cx="2926080" cy="502920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통과: legalPass=20/20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429000"/>
            <a:ext cx="3566160" cy="502920"/>
          </a:xfrm>
          <a:prstGeom prst="roundRect">
            <a:avLst/>
          </a:prstGeom>
          <a:solidFill>
            <a:srgbClr val="BE123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주의: permitParkingPass=0/20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0">
                <a:solidFill>
                  <a:srgbClr val="64748B"/>
                </a:solidFill>
                <a:latin typeface="Malgun Gothic"/>
              </a:defRPr>
            </a:pPr>
            <a:r>
              <a:t>현재 주차는 count/mass-stage precheck 통과다. permit-final 주차승인은 별도 swept-path/차로/인허가 검토 필요.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7. Evaluator가 보는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30936"/>
            <a:ext cx="8138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다양성만 보지 않고 repair와 orderliness까지 동시에 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645920" cy="53035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Diversity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2057400"/>
            <a:ext cx="168249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  <a:latin typeface="Malgun Gothic"/>
              </a:defRPr>
            </a:pPr>
            <a:r>
              <a:t>family, language pair,</a:t>
            </a:r>
            <a:br/>
            <a:r>
              <a:t>role diversity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1325880"/>
            <a:ext cx="1645920" cy="530352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Repair Delta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33472" y="2057400"/>
            <a:ext cx="168249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  <a:latin typeface="Malgun Gothic"/>
              </a:defRPr>
            </a:pPr>
            <a:r>
              <a:t>legal repair 후</a:t>
            </a:r>
            <a:br/>
            <a:r>
              <a:t>면적 보존율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1325880"/>
            <a:ext cx="1645920" cy="530352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Orderliness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0872" y="2057400"/>
            <a:ext cx="168249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  <a:latin typeface="Malgun Gothic"/>
              </a:defRPr>
            </a:pPr>
            <a:r>
              <a:t>주축, 위계,</a:t>
            </a:r>
            <a:br/>
            <a:r>
              <a:t>작은 조각 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1325880"/>
            <a:ext cx="1645920" cy="530352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Parking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48272" y="2057400"/>
            <a:ext cx="168249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  <a:latin typeface="Malgun Gothic"/>
              </a:defRPr>
            </a:pPr>
            <a:r>
              <a:t>required/provided,</a:t>
            </a:r>
            <a:br/>
            <a:r>
              <a:t>mass-stage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3703320"/>
            <a:ext cx="6949440" cy="502920"/>
          </a:xfrm>
          <a:prstGeom prst="roundRect">
            <a:avLst/>
          </a:prstGeom>
          <a:solidFill>
            <a:srgbClr val="BE123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150" b="1">
                <a:solidFill>
                  <a:srgbClr val="FFFFFF"/>
                </a:solidFill>
                <a:latin typeface="Malgun Gothic"/>
              </a:defRPr>
            </a:pPr>
            <a:r>
              <a:t>실패하면 생성기를 약하게 통과시키는 게 아니라, failure memory에 넣고 다음 후보 생성 조건을 바꾼다.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8. 현재 PNG에 대한 정직한 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30936"/>
            <a:ext cx="8138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검증 통과와 건축적 설득력은 다르다</a:t>
            </a:r>
          </a:p>
        </p:txBody>
      </p:sp>
      <p:pic>
        <p:nvPicPr>
          <p:cNvPr id="4" name="Picture 3" descr="img_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78992"/>
            <a:ext cx="4206240" cy="150328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892040" y="1143000"/>
            <a:ext cx="3611880" cy="457200"/>
          </a:xfrm>
          <a:prstGeom prst="roundRect">
            <a:avLst/>
          </a:prstGeom>
          <a:solidFill>
            <a:srgbClr val="BE123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4920" y="178308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0F172A"/>
                </a:solidFill>
                <a:latin typeface="Malgun Gothic"/>
              </a:defRPr>
            </a:pPr>
            <a:r>
              <a:t>아직 rectilinear box 조합이 강하고,</a:t>
            </a:r>
            <a:br/>
            <a:r>
              <a:t>일부 후보는 '건축언어'보다 조립 블록처럼 읽힌다.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2880360"/>
            <a:ext cx="3611880" cy="457200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다음 개선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3502152"/>
            <a:ext cx="3246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0F172A"/>
                </a:solidFill>
                <a:latin typeface="Malgun Gothic"/>
              </a:defRPr>
            </a:pPr>
            <a:r>
              <a:t>agent 협업 loop에서 parking/법규 실패가</a:t>
            </a:r>
            <a:br/>
            <a:r>
              <a:t>MassDSL language revision으로 돌아가게 만든다.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9. Revision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30936"/>
            <a:ext cx="8138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실패를 prompt 감으로 고치는 게 아니라, 구조화된 action으로 되돌림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987552" cy="51206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Generate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691640" y="2084831"/>
            <a:ext cx="256032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965960" y="1828800"/>
            <a:ext cx="987552" cy="51206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Compile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71800" y="2084831"/>
            <a:ext cx="256032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246120" y="1828800"/>
            <a:ext cx="987552" cy="512064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Legalize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251960" y="2084831"/>
            <a:ext cx="256032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26280" y="1828800"/>
            <a:ext cx="987552" cy="512064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Evaluate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532120" y="2084831"/>
            <a:ext cx="256032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806440" y="1828800"/>
            <a:ext cx="987552" cy="512064"/>
          </a:xfrm>
          <a:prstGeom prst="roundRect">
            <a:avLst/>
          </a:prstGeom>
          <a:solidFill>
            <a:srgbClr val="BE123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Diagnose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12279" y="2084831"/>
            <a:ext cx="256033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086600" y="1828800"/>
            <a:ext cx="987552" cy="512064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Revise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1170432" y="2514600"/>
            <a:ext cx="6419088" cy="1097280"/>
          </a:xfrm>
          <a:prstGeom prst="line">
            <a:avLst/>
          </a:prstGeom>
          <a:ln w="25400">
            <a:solidFill>
              <a:srgbClr val="BE1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680" y="3886200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20" b="1">
                <a:solidFill>
                  <a:srgbClr val="0F172A"/>
                </a:solidFill>
                <a:latin typeface="Malgun Gothic"/>
              </a:defRPr>
            </a:pPr>
            <a:r>
              <a:t>예: parking fail -&gt; piloti/drive aisle grammar 요청, orderliness low -&gt; fragment 제거/주축 강화 요청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10. 현재 검증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30936"/>
            <a:ext cx="8138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이 숫자는 통과 근거이지, 최종 디자인 품질 보장은 아님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1783080" cy="530352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50" b="1">
                <a:solidFill>
                  <a:srgbClr val="FFFFFF"/>
                </a:solidFill>
                <a:latin typeface="Malgun Gothic"/>
              </a:defRPr>
            </a:pPr>
            <a:r>
              <a:t>legalPass</a:t>
            </a:r>
            <a:br/>
            <a:r>
              <a:t>20/20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24328" y="1143000"/>
            <a:ext cx="1783080" cy="530352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50" b="1">
                <a:solidFill>
                  <a:srgbClr val="FFFFFF"/>
                </a:solidFill>
                <a:latin typeface="Malgun Gothic"/>
              </a:defRPr>
            </a:pPr>
            <a:r>
              <a:t>parkingCount</a:t>
            </a:r>
            <a:br/>
            <a:r>
              <a:t>20/20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45736" y="1143000"/>
            <a:ext cx="1783080" cy="530352"/>
          </a:xfrm>
          <a:prstGeom prst="roundRect">
            <a:avLst/>
          </a:prstGeom>
          <a:solidFill>
            <a:srgbClr val="BE123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50" b="1">
                <a:solidFill>
                  <a:srgbClr val="FFFFFF"/>
                </a:solidFill>
                <a:latin typeface="Malgun Gothic"/>
              </a:defRPr>
            </a:pPr>
            <a:r>
              <a:t>parkingPermit</a:t>
            </a:r>
            <a:br/>
            <a:r>
              <a:t>0/20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67143" y="1143000"/>
            <a:ext cx="1783080" cy="530352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50" b="1">
                <a:solidFill>
                  <a:srgbClr val="FFFFFF"/>
                </a:solidFill>
                <a:latin typeface="Malgun Gothic"/>
              </a:defRPr>
            </a:pPr>
            <a:r>
              <a:t>twoTier</a:t>
            </a:r>
            <a:br/>
            <a:r>
              <a:t>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11680"/>
            <a:ext cx="1783080" cy="530352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50" b="1">
                <a:solidFill>
                  <a:srgbClr val="FFFFFF"/>
                </a:solidFill>
                <a:latin typeface="Malgun Gothic"/>
              </a:defRPr>
            </a:pPr>
            <a:r>
              <a:t>orderliness</a:t>
            </a:r>
            <a:br/>
            <a:r>
              <a:t>0.78 avg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24328" y="2011680"/>
            <a:ext cx="1783080" cy="53035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50" b="1">
                <a:solidFill>
                  <a:srgbClr val="FFFFFF"/>
                </a:solidFill>
                <a:latin typeface="Malgun Gothic"/>
              </a:defRPr>
            </a:pPr>
            <a:r>
              <a:t>source roles</a:t>
            </a:r>
            <a:br/>
            <a:r>
              <a:t>57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45736" y="2011680"/>
            <a:ext cx="1783080" cy="530352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50" b="1">
                <a:solidFill>
                  <a:srgbClr val="FFFFFF"/>
                </a:solidFill>
                <a:latin typeface="Malgun Gothic"/>
              </a:defRPr>
            </a:pPr>
            <a:r>
              <a:t>LLM gap</a:t>
            </a:r>
            <a:br/>
            <a:r>
              <a:t>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67143" y="2011680"/>
            <a:ext cx="1783080" cy="530352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50" b="1">
                <a:solidFill>
                  <a:srgbClr val="FFFFFF"/>
                </a:solidFill>
                <a:latin typeface="Malgun Gothic"/>
              </a:defRPr>
            </a:pPr>
            <a:r>
              <a:t>repair severe</a:t>
            </a:r>
            <a:br/>
            <a:r>
              <a:t>0</a:t>
            </a:r>
          </a:p>
        </p:txBody>
      </p:sp>
      <p:pic>
        <p:nvPicPr>
          <p:cNvPr id="12" name="Picture 11" descr="maas-20-alt-la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71800"/>
            <a:ext cx="7589520" cy="482969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4754880"/>
            <a:ext cx="7680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64748B"/>
                </a:solidFill>
                <a:latin typeface="Malgun Gothic"/>
              </a:defRPr>
            </a:pPr>
            <a:r>
              <a:t>발표 문장: 현재는 연구용 evidence loop prototype이며, 다음 단계는 agent negotiation 기반 MassDSL revision.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11. 다음 구현 과제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30936"/>
            <a:ext cx="8138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지금 부족한 것은 단어 수가 아니라 agent 협업과 geometry 표현력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2286000" cy="384048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980" b="1">
                <a:solidFill>
                  <a:srgbClr val="FFFFFF"/>
                </a:solidFill>
                <a:latin typeface="Malgun Gothic"/>
              </a:defRPr>
            </a:pPr>
            <a:r>
              <a:t>Shared Candidate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54680" y="108813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0F172A"/>
                </a:solidFill>
                <a:latin typeface="Malgun Gothic"/>
              </a:defRPr>
            </a:pPr>
            <a:r>
              <a:t>법규, 주차, MassDSL, geometry, 실패 이유를 한 객체에 저장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09928"/>
            <a:ext cx="2286000" cy="384048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980" b="1">
                <a:solidFill>
                  <a:srgbClr val="FFFFFF"/>
                </a:solidFill>
                <a:latin typeface="Malgun Gothic"/>
              </a:defRPr>
            </a:pPr>
            <a:r>
              <a:t>Parking-Mass Negotiation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74650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0F172A"/>
                </a:solidFill>
                <a:latin typeface="Malgun Gothic"/>
              </a:defRPr>
            </a:pPr>
            <a:r>
              <a:t>주차 실패가 piloti/void/drive grammar revision으로 환류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68296"/>
            <a:ext cx="2286000" cy="384048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980" b="1">
                <a:solidFill>
                  <a:srgbClr val="FFFFFF"/>
                </a:solidFill>
                <a:latin typeface="Malgun Gothic"/>
              </a:defRPr>
            </a:pPr>
            <a:r>
              <a:t>Non-Box Primitives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240487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0F172A"/>
                </a:solidFill>
                <a:latin typeface="Malgun Gothic"/>
              </a:defRPr>
            </a:pPr>
            <a:r>
              <a:t>polygonal/curvilinear/freeform source primitive 확대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26663"/>
            <a:ext cx="2286000" cy="384048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980" b="1">
                <a:solidFill>
                  <a:srgbClr val="FFFFFF"/>
                </a:solidFill>
                <a:latin typeface="Malgun Gothic"/>
              </a:defRPr>
            </a:pPr>
            <a:r>
              <a:t>Critic Revision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306323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0F172A"/>
                </a:solidFill>
                <a:latin typeface="Malgun Gothic"/>
              </a:defRPr>
            </a:pPr>
            <a:r>
              <a:t>PNG/JSON failure를 다음 LLM proposal 조건으로 자동 반영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85031"/>
            <a:ext cx="2286000" cy="384048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980" b="1">
                <a:solidFill>
                  <a:srgbClr val="FFFFFF"/>
                </a:solidFill>
                <a:latin typeface="Malgun Gothic"/>
              </a:defRPr>
            </a:pPr>
            <a:r>
              <a:t>Presentation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3721607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0F172A"/>
                </a:solidFill>
                <a:latin typeface="Malgun Gothic"/>
              </a:defRPr>
            </a:pPr>
            <a:r>
              <a:t>카드에 rule name, param source, orderliness를 노출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4434840"/>
            <a:ext cx="7132320" cy="411480"/>
          </a:xfrm>
          <a:prstGeom prst="roundRect">
            <a:avLst/>
          </a:prstGeom>
          <a:solidFill>
            <a:srgbClr val="0C182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결론: LLM은 제안자, agent loop는 협상자, solver/verifier는 판정자다.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