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Malgun Gothic"/>
              </a:defRPr>
            </a:pPr>
            <a:r>
              <a:t>MAAS: Law-Constrained Architectural Massing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7899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algun Gothic"/>
              </a:defRPr>
            </a:pPr>
            <a:r>
              <a:t>LLM prompt가 아니라, 언어 표현 + 생성문법 + 법규 solver + agent negotiation + verifier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325880" cy="7498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Language</a:t>
            </a:r>
            <a:br/>
            <a:r>
              <a:t>Ontology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37943" y="2706624"/>
            <a:ext cx="274321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148840" y="2331720"/>
            <a:ext cx="1325880" cy="74980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Representation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386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2331720"/>
            <a:ext cx="1325880" cy="74980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Rule</a:t>
            </a:r>
            <a:br/>
            <a:r>
              <a:t>Compiler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978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40680" y="2331720"/>
            <a:ext cx="1325880" cy="74980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Legal/Parking</a:t>
            </a:r>
            <a:br/>
            <a:r>
              <a:t>Hard Gates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75704" y="2706624"/>
            <a:ext cx="27432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86600" y="2331720"/>
            <a:ext cx="1325880" cy="74980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Critic +</a:t>
            </a:r>
            <a:br/>
            <a:r>
              <a:t>Revision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7680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Malgun Gothic"/>
              </a:defRPr>
            </a:pPr>
            <a:r>
              <a:t>연구 질문: 법규를 지키면서도 설명 가능한 건축언어 조합과 다양한 mass alternative를 만들 수 있는가?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0. 오해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LLM에 건축 단어를 넣는 것은 입력 단계일 뿐, 연구 방법론의 끝이 아님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6616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약한 주장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LLM에게 courtyard, split, roof 같은 단어를 주고</a:t>
            </a:r>
            <a:br/>
            <a:r>
              <a:t>그럴듯한 도형을 생성한다.</a:t>
            </a:r>
            <a:br/>
            <a:br/>
            <a:r>
              <a:t>문제: 법규 truth, 주차, repair, 실패 이유,</a:t>
            </a:r>
            <a:br/>
            <a:r>
              <a:t>재현 가능한 grammar가 없다.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417320"/>
            <a:ext cx="356616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강한 주장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84831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Malgun Gothic"/>
              </a:defRPr>
            </a:pPr>
            <a:r>
              <a:t>건축언어를 MassDSL로 표현하고,</a:t>
            </a:r>
            <a:br/>
            <a:r>
              <a:t>rule compiler가 source geometry로 번역하며,</a:t>
            </a:r>
            <a:br/>
            <a:r>
              <a:t>법규/주차 solver와 critic이 반복 수정한다.</a:t>
            </a:r>
            <a:br/>
            <a:br/>
            <a:r>
              <a:t>결과는 PNG가 아니라 JSON evidence로도 설명된다.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3977639"/>
            <a:ext cx="521208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핵심은 prompt가 아니라 representation + compiler + verifier + revision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1. 논문/참조코드에서 가져온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정확한 복제보다 구조적 흡수: 표현, 생성, 평가, 반복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EvoMass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78608" y="1143000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typology-oriented exploration + population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143000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LLM population + island quotas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56232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Urban Massing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1856232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massing and layout variation must co-evolve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56232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parking -&gt; LLM language revision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9464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Add/Subtract Massing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569464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form generation principles create topological variability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569464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rule_priors + source geometry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82696"/>
            <a:ext cx="18288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Agents SDK / GitAgent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78608" y="3282696"/>
            <a:ext cx="274320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0F172A"/>
                </a:solidFill>
                <a:latin typeface="Malgun Gothic"/>
              </a:defRPr>
            </a:pPr>
            <a:r>
              <a:t>handoffs, tools, traces, repo-native agent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3282696"/>
            <a:ext cx="301752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agent.yaml + SOUL/RULES/memory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따라서 발표 핵심은 'LLM이 만들었다'가 아니라 '논문 방법론의 어느 layer가 어느 agent/evidence로 구현됐는가'다.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2. 표현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텍스트 언어가 바로 geometry가 되지 않고, 단계별 contract를 통과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34440"/>
            <a:ext cx="1417320" cy="6583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Architectural</a:t>
            </a:r>
            <a:br/>
            <a:r>
              <a:t>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courtyard, branch, roof, split, interlock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5623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48840" y="1234440"/>
            <a:ext cx="1417320" cy="65836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base -&gt; split -&gt; bridge -&gt; void -&gt; roof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9359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234440"/>
            <a:ext cx="1417320" cy="65836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Rule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rule_name, authored params, prior params, 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095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59" y="1234440"/>
            <a:ext cx="1417320" cy="65836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Source</a:t>
            </a:r>
            <a:br/>
            <a:r>
              <a:t>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volumes, surfaces, primitive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68312" y="1563624"/>
            <a:ext cx="26517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19" y="1234440"/>
            <a:ext cx="1417320" cy="65836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Legalized</a:t>
            </a:r>
            <a:br/>
            <a:r>
              <a:t>Mass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2084831"/>
            <a:ext cx="1508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FAR/BCR/height/parking checked candidate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3794760"/>
            <a:ext cx="6217920" cy="475488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각 계층은 JSON evidence로 남아야 하고, 빠진 계층은 verifier failure가 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3. Multi-Agent Constraint Negotiation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주차 agent와 mass agent 협업은 가능하며, 이 루프가 연구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78992"/>
            <a:ext cx="1078992" cy="56692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Law</a:t>
            </a:r>
            <a:br/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078992"/>
            <a:ext cx="1078992" cy="56692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Parking</a:t>
            </a:r>
            <a:br/>
            <a: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25496" y="1078992"/>
            <a:ext cx="1078992" cy="56692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LLM</a:t>
            </a:r>
            <a:br/>
            <a:r>
              <a:t>Architect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8224" y="1078992"/>
            <a:ext cx="1078992" cy="56692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MassDSL</a:t>
            </a:r>
            <a:br/>
            <a:r>
              <a:t>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0952" y="1078992"/>
            <a:ext cx="1078992" cy="56692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Geometry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78992"/>
            <a:ext cx="1078992" cy="56692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50" b="1">
                <a:solidFill>
                  <a:srgbClr val="FFFFFF"/>
                </a:solidFill>
                <a:latin typeface="Malgun Gothic"/>
              </a:defRPr>
            </a:pPr>
            <a:r>
              <a:t>Critic</a:t>
            </a:r>
            <a:br/>
            <a:r>
              <a:t>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7320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70048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22776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75504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8232" y="1362456"/>
            <a:ext cx="1371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651760" y="1737360"/>
            <a:ext cx="4480560" cy="169164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2240280"/>
            <a:ext cx="7680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예: 주차 실패 -&gt; parking agent가 필로티/기계식/drive aisle 요구 -&gt; LLM architect가 언어 수정 -&gt; MassDSL/geometry가 재컴파일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154680"/>
            <a:ext cx="182880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parking fail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154680"/>
            <a:ext cx="1828800" cy="50292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revise MassDSL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54680"/>
            <a:ext cx="18288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recheck law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61488" y="3401568"/>
            <a:ext cx="8778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04688" y="3401568"/>
            <a:ext cx="8778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297680"/>
            <a:ext cx="7680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algun Gothic"/>
              </a:defRPr>
            </a:pPr>
            <a:r>
              <a:t>현재 구현은 순차 flow가 강함. 다음 단계는 shared state 기반 bidirectional revision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4. Agent 폴더 구조와 책임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GitAgent처럼 agent는 MD 조각이 아니라 독립 폴더 단위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251460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Global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Malgun Gothic"/>
              </a:defRPr>
            </a:pPr>
            <a:r>
              <a:t>ARR/backend/agents/</a:t>
            </a:r>
            <a:br/>
            <a:r>
              <a:t>- A2A discovery</a:t>
            </a:r>
            <a:br/>
            <a:r>
              <a:t>- JSON-RPC transport</a:t>
            </a:r>
            <a:br/>
            <a:r>
              <a:t>- worker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960120"/>
            <a:ext cx="2514600" cy="43891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MAAS 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3008" y="1536192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19" b="0">
                <a:solidFill>
                  <a:srgbClr val="0F172A"/>
                </a:solidFill>
                <a:latin typeface="Malgun Gothic"/>
              </a:defRPr>
            </a:pPr>
            <a:r>
              <a:t>ARR/backend/design/maas/agents/</a:t>
            </a:r>
            <a:br/>
            <a:r>
              <a:t>- law/parking</a:t>
            </a:r>
            <a:br/>
            <a:r>
              <a:t>- MassDSL/geometry</a:t>
            </a:r>
            <a:br/>
            <a:r>
              <a:t>- critic/review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60120"/>
            <a:ext cx="2423160" cy="43891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Same Folder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" b="0">
                <a:solidFill>
                  <a:srgbClr val="0F172A"/>
                </a:solidFill>
                <a:latin typeface="Malgun Gothic"/>
              </a:defRPr>
            </a:pPr>
            <a:r>
              <a:t>agent.py or adapter</a:t>
            </a:r>
            <a:br/>
            <a:r>
              <a:t>agent.yaml</a:t>
            </a:r>
            <a:br/>
            <a:r>
              <a:t>SOUL.md</a:t>
            </a:r>
            <a:br/>
            <a:r>
              <a:t>RULES.md</a:t>
            </a:r>
            <a:br/>
            <a:r>
              <a:t>memory/MEMORY.md</a:t>
            </a:r>
            <a:br/>
            <a:r>
              <a:t>card + contract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1179576"/>
            <a:ext cx="28346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70448" y="1179576"/>
            <a:ext cx="28346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035808"/>
            <a:ext cx="2148840" cy="42976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worker module mirror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8444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0F172A"/>
                </a:solidFill>
                <a:latin typeface="Malgun Gothic"/>
              </a:defRPr>
            </a:pPr>
            <a:r>
              <a:t>worker_agents/modules/{agent_id}/</a:t>
            </a:r>
            <a:br/>
            <a:r>
              <a:t>keeps identity/rules/memory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3035808"/>
            <a:ext cx="2148840" cy="42976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MAAS specialist package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58444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0F172A"/>
                </a:solidFill>
                <a:latin typeface="Malgun Gothic"/>
              </a:defRPr>
            </a:pPr>
            <a:r>
              <a:t>{agent_id}/agent.py + card.py</a:t>
            </a:r>
            <a:br/>
            <a:r>
              <a:t>+ contract.py + 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035808"/>
            <a:ext cx="2148840" cy="429768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team graph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584448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30" b="0">
                <a:solidFill>
                  <a:srgbClr val="0F172A"/>
                </a:solidFill>
                <a:latin typeface="Malgun Gothic"/>
              </a:defRPr>
            </a:pPr>
            <a:r>
              <a:t>JSON_MODULES + AG-light UI</a:t>
            </a:r>
            <a:br/>
            <a:r>
              <a:t>must match backend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70832"/>
            <a:ext cx="7315200" cy="41148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원칙: global infra와 MAAS domain은 둘 다 필요하지만, 같은 agent-folder 표준으로 검토 가능해야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5. Rule-Based Source Geometry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LLM이 낸 언어를 바로 박스로 그리지 않고 rule prior와 authored parameter를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874519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LLM Authored</a:t>
            </a:r>
            <a:br/>
            <a:r>
              <a:t>Params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143000"/>
            <a:ext cx="1874519" cy="5303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Architectural</a:t>
            </a:r>
            <a:br/>
            <a:r>
              <a:t>Rule Priors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143000"/>
            <a:ext cx="1874519" cy="530352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Invalid / Missing</a:t>
            </a:r>
            <a:br/>
            <a:r>
              <a:t>Params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87168" y="1408176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73168" y="1408176"/>
            <a:ext cx="3657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24028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algun Gothic"/>
              </a:defRPr>
            </a:pPr>
            <a:r>
              <a:t>compiler output = source volumes + source surfaces + rule_evidence + source_signature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courtyard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interlock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3429000"/>
            <a:ext cx="150876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sloped_roof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429000"/>
            <a:ext cx="13258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BE123C"/>
                </a:solidFill>
                <a:latin typeface="Malgun Gothic"/>
              </a:defRPr>
            </a:pPr>
            <a:r>
              <a:t>숫자 fallback은 숨기지 않고 rule_prior_params로 evidence화해야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6. 법규와 주차는 Hard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LLM이나 mass agent가 통과 여부를 선언하지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FAR</a:t>
            </a:r>
            <a:br/>
            <a:r>
              <a:t>legal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BCR</a:t>
            </a:r>
            <a:br/>
            <a:r>
              <a:t>legal solver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Height</a:t>
            </a:r>
            <a:br/>
            <a:r>
              <a:t>legal 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057400" cy="502920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Sunlight</a:t>
            </a:r>
            <a:br/>
            <a:r>
              <a:t>envelope/clip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57400"/>
            <a:ext cx="205740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Parking Count</a:t>
            </a:r>
            <a:br/>
            <a:r>
              <a:t>parking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57400"/>
            <a:ext cx="2057400" cy="50292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Mass-Stage Parking</a:t>
            </a:r>
            <a:br/>
            <a:r>
              <a:t>precheck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29000"/>
            <a:ext cx="2926080" cy="50292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통과: legalPass=20/20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429000"/>
            <a:ext cx="356616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주의: permitParkingPass=0/20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4748B"/>
                </a:solidFill>
                <a:latin typeface="Malgun Gothic"/>
              </a:defRPr>
            </a:pPr>
            <a:r>
              <a:t>현재 주차는 count/mass-stage precheck 통과다. permit-final 주차승인은 별도 swept-path/차로/인허가 검토 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7. Evaluator가 보는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다양성만 보지 않고 repair와 orderliness까지 동시에 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645920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family, language pair,</a:t>
            </a:r>
            <a:br/>
            <a:r>
              <a:t>role diversity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325880"/>
            <a:ext cx="1645920" cy="530352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Repair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legal repair 후</a:t>
            </a:r>
            <a:br/>
            <a:r>
              <a:t>면적 보존율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25880"/>
            <a:ext cx="164592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Orderliness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주축, 위계,</a:t>
            </a:r>
            <a:br/>
            <a:r>
              <a:t>작은 조각 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325880"/>
            <a:ext cx="1645920" cy="530352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Parking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2057400"/>
            <a:ext cx="16824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  <a:latin typeface="Malgun Gothic"/>
              </a:defRPr>
            </a:pPr>
            <a:r>
              <a:t>required/provided,</a:t>
            </a:r>
            <a:br/>
            <a:r>
              <a:t>mass-stage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703320"/>
            <a:ext cx="6949440" cy="50292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실패하면 생성기를 약하게 통과시키는 게 아니라, failure memory에 넣고 다음 후보 생성 조건을 바꾼다.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8. 현재 PNG에 대한 정직한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검증 통과와 건축적 설득력은 다르다</a:t>
            </a:r>
          </a:p>
        </p:txBody>
      </p:sp>
      <p:pic>
        <p:nvPicPr>
          <p:cNvPr id="4" name="Picture 3" descr="img_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4206240" cy="150328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92040" y="1143000"/>
            <a:ext cx="3611880" cy="457200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78308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0F172A"/>
                </a:solidFill>
                <a:latin typeface="Malgun Gothic"/>
              </a:defRPr>
            </a:pPr>
            <a:r>
              <a:t>아직 rectilinear box 조합이 강하고,</a:t>
            </a:r>
            <a:br/>
            <a:r>
              <a:t>일부 후보는 '건축언어'보다 조립 블록처럼 읽힌다.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880360"/>
            <a:ext cx="3611880" cy="45720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다음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502152"/>
            <a:ext cx="3246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0F172A"/>
                </a:solidFill>
                <a:latin typeface="Malgun Gothic"/>
              </a:defRPr>
            </a:pPr>
            <a:r>
              <a:t>agent 협업 loop에서 parking/법규 실패가</a:t>
            </a:r>
            <a:br/>
            <a:r>
              <a:t>MassDSL language revision으로 돌아가게 만든다.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9. Revision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실패를 prompt 감으로 고치는 게 아니라, 구조화된 action으로 되돌림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987552" cy="51206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Generate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65960" y="1828800"/>
            <a:ext cx="987552" cy="51206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Compile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1828800"/>
            <a:ext cx="987552" cy="512064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Legalize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828800"/>
            <a:ext cx="987552" cy="51206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Evaluate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2084831"/>
            <a:ext cx="25603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06440" y="1828800"/>
            <a:ext cx="987552" cy="512064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Diagnose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79" y="2084831"/>
            <a:ext cx="256033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086600" y="1828800"/>
            <a:ext cx="987552" cy="512064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Revise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170432" y="2514600"/>
            <a:ext cx="6419088" cy="1097280"/>
          </a:xfrm>
          <a:prstGeom prst="line">
            <a:avLst/>
          </a:prstGeom>
          <a:ln w="25400">
            <a:solidFill>
              <a:srgbClr val="BE12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388620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0F172A"/>
                </a:solidFill>
                <a:latin typeface="Malgun Gothic"/>
              </a:defRPr>
            </a:pPr>
            <a:r>
              <a:t>예: parking fail -&gt; piloti/drive aisle grammar 요청, orderliness low -&gt; fragment 제거/주축 강화 요청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10. 현재 검증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이 숫자는 통과 근거이지, 최종 디자인 품질 보장은 아님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legalPass</a:t>
            </a:r>
            <a:br/>
            <a:r>
              <a:t>20/20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24328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parkingCount</a:t>
            </a:r>
            <a:br/>
            <a:r>
              <a:t>20/20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45736" y="1143000"/>
            <a:ext cx="1783080" cy="530352"/>
          </a:xfrm>
          <a:prstGeom prst="roundRect">
            <a:avLst/>
          </a:prstGeom>
          <a:solidFill>
            <a:srgbClr val="BE123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parkingPermit</a:t>
            </a:r>
            <a:br/>
            <a:r>
              <a:t>0/20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67143" y="114300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twoTier</a:t>
            </a:r>
            <a:br/>
            <a:r>
              <a:t>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orderliness</a:t>
            </a:r>
            <a:br/>
            <a:r>
              <a:t>0.78 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4328" y="2011680"/>
            <a:ext cx="1783080" cy="53035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source roles</a:t>
            </a:r>
            <a:br/>
            <a: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45736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LLM gap</a:t>
            </a:r>
            <a:br/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67143" y="2011680"/>
            <a:ext cx="1783080" cy="530352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</a:defRPr>
            </a:pPr>
            <a:r>
              <a:t>repair severe</a:t>
            </a:r>
            <a:br/>
            <a:r>
              <a:t>0</a:t>
            </a:r>
          </a:p>
        </p:txBody>
      </p:sp>
      <p:pic>
        <p:nvPicPr>
          <p:cNvPr id="12" name="Picture 11" descr="maas-20-alt-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71800"/>
            <a:ext cx="7589520" cy="48296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algun Gothic"/>
              </a:defRPr>
            </a:pPr>
            <a:r>
              <a:t>발표 문장: 현재는 연구용 evidence loop prototype이며, 다음 단계는 agent negotiation 기반 MassDSL revision.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11. 다음 구현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630936"/>
            <a:ext cx="8138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algun Gothic"/>
              </a:defRPr>
            </a:pPr>
            <a:r>
              <a:t>지금 부족한 것은 단어 수가 아니라 agent 협업과 geometry 표현력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Shared Candidate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881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법규, 주차, MassDSL, geometry, 실패 이유를 한 객체에 저장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09928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Parking-Mass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746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주차 실패가 piloti/void/drive grammar revision으로 환류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68296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Non-Box Primitives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polygonal/curvilinear/freeform source primitive 확대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26663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Critic Revision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632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PNG/JSON failure를 다음 LLM proposal 조건으로 자동 반영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85031"/>
            <a:ext cx="2286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980" b="1">
                <a:solidFill>
                  <a:srgbClr val="FFFFFF"/>
                </a:solidFill>
                <a:latin typeface="Malgun Gothic"/>
              </a:defRPr>
            </a:pPr>
            <a:r>
              <a:t>Presentation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721607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카드에 rule name, param source, orderliness를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434840"/>
            <a:ext cx="7132320" cy="411480"/>
          </a:xfrm>
          <a:prstGeom prst="roundRect">
            <a:avLst/>
          </a:prstGeom>
          <a:solidFill>
            <a:srgbClr val="0C182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결론: LLM은 제안자, agent loop는 협상자, solver/verifier는 판정자다.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