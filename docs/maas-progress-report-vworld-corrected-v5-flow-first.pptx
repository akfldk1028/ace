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2" r:id="rId23"/>
    <p:sldId id="273" r:id="rId24"/>
    <p:sldId id="270" r:id="rId21"/>
    <p:sldId id="271" r:id="rId2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132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ECDEB"/>
                </a:solidFill>
                <a:latin typeface="Malgun Gothic"/>
              </a:rPr>
              <a:t>ARR / MAAS / Playwright DOM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algun Gothic"/>
              </a:rPr>
              <a:t>법규 기반 매스 생성
진행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2316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CE6F0"/>
                </a:solidFill>
                <a:latin typeface="Malgun Gothic"/>
              </a:rPr>
              <a:t>PNU 1168011800104170004 · /design DOM/API capture · VWorld 3D 미검증</a:t>
            </a:r>
          </a:p>
        </p:txBody>
      </p:sp>
      <p:pic>
        <p:nvPicPr>
          <p:cNvPr id="5" name="Picture 4" descr="design_optimize_result_with_2d_fallback_116801180010417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46120"/>
            <a:ext cx="7772400" cy="539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Playwright DOM/API 캡처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control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17320"/>
            <a:ext cx="2788920" cy="3537167"/>
          </a:xfrm>
          <a:prstGeom prst="rect">
            <a:avLst/>
          </a:prstGeom>
        </p:spPr>
      </p:pic>
      <p:pic>
        <p:nvPicPr>
          <p:cNvPr id="6" name="Picture 5" descr="maas_2d_mass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1417320"/>
            <a:ext cx="3154680" cy="5007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41732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41732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04888" y="1563624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검증 PNU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4888" y="1892808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1168011800104170004
264.13 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542032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54203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4888" y="2688336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API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3017520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site-boundary
constraints
jobs/results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666744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666744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3813048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4142231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18 candidates
18 pareto
0 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4791456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4791456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4937760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8" y="5266944"/>
            <a:ext cx="13075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 fallback
2D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법규 산정 근거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legal_basi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2926080" cy="27476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86200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1417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Datum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7368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NGII local DEM
대지 14개 샘플
도로 3개 샘플
인접대지 13개 샘플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417320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41732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63624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92808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대지 기준면
§86 평균수평면
정북일조 기준면
채광사선 참고면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2852928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도로/인접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검출 도로폭 37.5m
전면도로 후보 1개
인접대지 후보 4개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852928"/>
            <a:ext cx="2148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2852928"/>
            <a:ext cx="54864" cy="114300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9232"/>
            <a:ext cx="1764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해석 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176479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채광사선은 reference.
최종 pass/fail은 매스 창면 기반 ray 검토 필요.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07408"/>
            <a:ext cx="4389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PPT에 넣은 법규 값은 Playwright capture-result-with-fallback.json의 화면 텍스트 기준</a:t>
            </a:r>
          </a:p>
          <a:p>
            <a:pPr>
              <a:spcAft>
                <a:spcPts val="600"/>
              </a:spcAft>
              <a:defRPr sz="1150">
                <a:solidFill>
                  <a:srgbClr val="5C6574"/>
                </a:solidFill>
                <a:latin typeface="Malgun Gothic"/>
              </a:defRPr>
            </a:pPr>
            <a:r>
              <a:t>완성 법규검토가 아니라 datum/envelope/후보 생성 검증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Constraint / Datum /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sign_1168011800104170004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303520" cy="29832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137160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54864" cy="10972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17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화면상 법규 패널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184708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건폐율 ≤ 60%
용적률 ≤ 250%
인접대지 ≥ 0.5m
조경면적 ≥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65176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651760"/>
            <a:ext cx="54864" cy="109728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279806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단면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12724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정북일조 H/2는 H = 2x.
라벨은 2:1이 맞다.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31920"/>
            <a:ext cx="2514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3931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4078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품질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4407408"/>
            <a:ext cx="2130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plan PNG, section PNG, VWorld/Cesium이 서로 맞아야 최종 검증으로 볼 수 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2D Mass Preview와 Building Mass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as_2d_mass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4800600" cy="7620000"/>
          </a:xfrm>
          <a:prstGeom prst="rect">
            <a:avLst/>
          </a:prstGeom>
        </p:spPr>
      </p:pic>
      <p:pic>
        <p:nvPicPr>
          <p:cNvPr id="6" name="Picture 5" descr="maas_building_m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417320"/>
            <a:ext cx="210312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96128" y="3703320"/>
            <a:ext cx="2514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37033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38496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4178808"/>
            <a:ext cx="21305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형태 maas_legal_envelope
높이 16.8m
층수 6F
BCR 39.0%
FAR 175.5%
연면적 463m²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5074920"/>
            <a:ext cx="2514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5074920"/>
            <a:ext cx="54864" cy="86868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522122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5550408"/>
            <a:ext cx="2130552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WebGL이 꺼져도 mass_geojson 기반 fallback으로 후보 형상을 확인.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후보 리스트: 계단/스텝 매스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89888"/>
          <a:ext cx="8183876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871"/>
                <a:gridCol w="1800453"/>
                <a:gridCol w="2946196"/>
                <a:gridCol w="900226"/>
                <a:gridCol w="900226"/>
                <a:gridCol w="1063904"/>
              </a:tblGrid>
              <a:tr h="340360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operator / 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연면적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일조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429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62.4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오버랩+시프트+테라스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grammar_overlap_shift_terrace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코너/오픈코트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court_open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테라스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grade_terrace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분절+브릿지+계단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grammar_split_lift_stepback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69.6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00600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계단 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다단 일조스텝
분절+브릿지+계단
테라스/stepback 계열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4800600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 근거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capture text에 18개 후보명과 OK 상태가 기록됨.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80060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4800600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4946904"/>
            <a:ext cx="2130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5276088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화면상 6F/16.8m 지표와 evidence sample의 5F/17.5m dry-run은 서로 다른 검증 산출 시점.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바뀐 MAAS 로직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3886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legacy 10종은 더 이상 capacity source가 아니다.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legal envelope가 capacity anchor이고, legal_layered_max가 먼저 들어간다.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grammar/morphology seed가 생성된다: notch, court, split, branch, pinch, interlock, overlap, terrace, tower, taper, grade.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각 후보는 repair_design과 legal metrics를 통과해야 리스트에 남는다.</a:t>
            </a:r>
          </a:p>
          <a:p>
            <a:pPr>
              <a:spcAft>
                <a:spcPts val="600"/>
              </a:spcAft>
              <a:defRPr sz="1230">
                <a:solidFill>
                  <a:srgbClr val="1E232A"/>
                </a:solidFill>
                <a:latin typeface="Malgun Gothic"/>
              </a:defRPr>
            </a:pPr>
            <a:r>
              <a:t>후보 선택은 점수만이 아니라 concept family diversity를 보존한다.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92040" y="1508760"/>
          <a:ext cx="35661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787"/>
                <a:gridCol w="2068372"/>
              </a:tblGrid>
              <a:tr h="388620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 envelope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층별 허용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floor plates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FAR/BCR/height 기반 stack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seed grammar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계단/분절/테라스 등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repair/check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 실패 후보 제거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rank/select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capacity + diversity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92040" y="4160520"/>
            <a:ext cx="3566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92040" y="416052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3207" y="4306824"/>
            <a:ext cx="3182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코드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4636008"/>
            <a:ext cx="318211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legal_mesh_optimizer.py
seed_library.py
grammar/sequence_library.py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계단/스텝 생성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grammar_sunlight_multi_step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base(site)
step_envelope(bands=4)
층별 법규 envelope 추종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4992" y="14173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grammar_split_lift_stepback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split(x)
lift(upper 0.66)
grade(north)
분절+후퇴 상층부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4173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4173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5636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compact visual volumes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8928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step/terrace/grade/tower는 volume band를 4단계까지 분할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계단 mass는 단순 라벨이 아니라 grammar sequence가 geometry로 해석되고 legal repair/check를 지난다.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wants_stepped_display가 켜진 후보는 floor plate stack을 band로 묶어 사용자-facing mass volume으로 만든다.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높은 footprint IoU라도 section/volume profile이 다르면 sectional alternative로 유지된다.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Diversity Review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17320"/>
          <a:ext cx="804671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737"/>
                <a:gridCol w="2414016"/>
                <a:gridCol w="1609344"/>
                <a:gridCol w="724204"/>
                <a:gridCol w="643737"/>
                <a:gridCol w="804672"/>
                <a:gridCol w="563270"/>
                <a:gridCol w="643737"/>
              </a:tblGrid>
              <a:tr h="495300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mass_shape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height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BCR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FAR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vol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plates</a:t>
                      </a:r>
                    </a:p>
                  </a:txBody>
                  <a:tcPr>
                    <a:solidFill>
                      <a:srgbClr val="171F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legal_layered_max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법규엔벨로프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lift_overlap_slabs_layered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포디움/타워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grammar_sunlight_multi_step_layered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다단 일조스텝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grammar_podium_tower_offset_layered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포디움+타워오프셋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249.85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slender_bar_east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바형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45.73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E232A"/>
                          </a:solidFill>
                          <a:latin typeface="Malgun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8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736592"/>
            <a:ext cx="54864" cy="96012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8 candidates
8 unique mass_shape
8 unique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4736592"/>
            <a:ext cx="54864" cy="9601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하나의 legal box가 아니라 plan/section concept가 분리됨.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4736592"/>
            <a:ext cx="23774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4736592"/>
            <a:ext cx="54864" cy="96012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882896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남은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19933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3D diversity validator를 validators.runs[]에 넣어야 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Evidence Bundle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3794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schema_version: arr.maas.evidence.v0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bundle: maas-evidence:6ee6...:900000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candidate: maas_01 / legal_layered_max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checks: 7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final decision: needs_evidence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missing evidence: 4</a:t>
            </a:r>
          </a:p>
          <a:p>
            <a:pPr>
              <a:spcAft>
                <a:spcPts val="600"/>
              </a:spcAft>
              <a:defRPr sz="1220">
                <a:solidFill>
                  <a:srgbClr val="1E232A"/>
                </a:solidFill>
                <a:latin typeface="Malgun Gothic"/>
              </a:defRPr>
            </a:pPr>
            <a:r>
              <a:t>diversity class: plan_diverse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5087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92040" y="1508760"/>
            <a:ext cx="54864" cy="114300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93207" y="1655063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필요?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7" y="19842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Agent가 말로 판단하지 않고 site/candidate/geometry/legal/program/assets/provenance/checks를 근거로 리뷰.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8803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92040" y="2880360"/>
            <a:ext cx="54864" cy="114300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3207" y="30266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완성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33558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unknown은 pass가 아니며, parking/fire/energy/structural 등은 needs_evidence로 남는다.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42519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4251960"/>
            <a:ext cx="54864" cy="114300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4398264"/>
            <a:ext cx="3090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Graph DB 방향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4727448"/>
            <a:ext cx="30906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geometry는 GeoJSON/assets에 두고 Neo4j는 법규/근거/후보 lineage provenance에 사용.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Nano Banana / Aesthetic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2e70d5c89fd8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4752"/>
            <a:ext cx="297180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444752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7639" y="1444752"/>
            <a:ext cx="54864" cy="987552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7" y="1591056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구현된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7" y="1920240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nano-banana provider는 Gemini API 우선. GEMINI_API_KEY 또는 GOOGLE_API_KEY 사용, 기본 모델 gemini-2.5-flash-image-preview.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670048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670048"/>
            <a:ext cx="54864" cy="987552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7" y="2816352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dry-run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3145536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locked reference PNG까지 생성됨. provider key/endpoint가 없으면 needs_provider로 반환하고 생성 성공처럼 꾸미지 않는다.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895344"/>
            <a:ext cx="44348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39" y="3895344"/>
            <a:ext cx="54864" cy="987552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4041648"/>
            <a:ext cx="40507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안전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370831"/>
            <a:ext cx="405079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이미지 모델은 facade/material/window rhythm만 변경. silhouette, footprint, roofline, height, floor count, massing steps, setbacks 변경 금지.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Aesthetic은 법규 대체가 아님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7315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MAAS evidence bundle → locked reference render spec → facade/material prompt → image backend → silhouette/geometry validation → evidence asset reference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OpenAI adapter는 gpt-image-2 기본값으로 수정됨.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Nano Banana adapter는 Gemini 2.5 Flash Image preview 기본값과 generic HTTP fallback을 같이 지원.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UniTEX는 Apache-2.0 repo를 체크아웃했지만, ARR Django venv에 설치하지 않고 별도 CUDA worker 후보로 둔다.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어떤 이미지 backend도 legal checks를 pass로 만들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현재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Playwright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Headless Chromium에서 Cesium/WebGL 픽셀 검증은 불안정. VWorld가 아니라 API/DOM/2D fallback 검증까지만 확실.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§119 &gt;3m true area partition, mass-aware daylight, front-road height envelope는 미완성.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4864" cy="109728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매스 한계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program/core/corridor/egress/depth rule은 1차 수준. single-volume 후보는 floor plate reviewability가 낮음.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788920"/>
            <a:ext cx="3794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788920"/>
            <a:ext cx="54864" cy="109728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9352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복잡 필지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264408"/>
            <a:ext cx="3410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concave/multi-road parcel은 buildable footprint clipping과 road datum 신뢰성 보강 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다음 구현 순서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63040"/>
            <a:ext cx="7315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Playwright/real-browser 캡처 세트를 후보 선택별로 더 늘린다: legal_layered, multi_step, split_lift_stepback.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§119 3m 초과 지반을 DEM/contour 기반 true area polygon partition으로 구현한다.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mass-aware daylight: selected mass wall/window candidates → perpendicular distance rays → pass/fail section.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3D diversity validator를 evidence validators.runs[]에 추가한다.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Nano Banana 실제 provider key 연결 시 생성 asset을 evidence.assets.aesthetic에 붙이고 silhouette validation을 통과시킨다.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VWorld layer controller/legend를 제품 검토 화면으로 정리한다.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LLM이 하는 것과 하지 않는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54864" cy="123444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LLM이 하지 않는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9280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LLM은 mass 좌표, mesh, floor plate, legal envelope를 직접 생성하지 않는다. Geometry source of truth는 ARR/backend/design/maas 코드다.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41732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1728" y="14173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82896" y="156362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LLM이 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189280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후보 설명, evidence 요약, 부족한 근거 지적, 재생성/수정 방향 제안, agent review orchestration을 담당한다.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9718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7180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1810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왜 이 방식인가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44728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법규, datum, 일조, 면적은 재현성과 추적성이 중요하다. LLM 직접 geometry는 그럴듯해도 검증과 디버깅이 어렵다.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971800"/>
            <a:ext cx="3794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1728" y="297180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3118104"/>
            <a:ext cx="3410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현재 최선의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447288"/>
            <a:ext cx="34107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deterministic legal geometry + grammar/operator diversity + repair/check + evidence bundle + LLM review가 안전한 구조다.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최종 목표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17320"/>
            <a:ext cx="73609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1. deterministic legal envelope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2. floor-by-floor legal plate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3. grammar/operator seed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4. evolutionary 또는 multi-objective search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5. program/core/parking/egress viability check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6. daylight/window-wall validation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7. evidence bundle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8. LLM/agent review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9. human selection/edit</a:t>
            </a:r>
          </a:p>
          <a:p>
            <a:pPr>
              <a:spcAft>
                <a:spcPts val="600"/>
              </a:spcAft>
              <a:defRPr sz="1300">
                <a:solidFill>
                  <a:srgbClr val="1E232A"/>
                </a:solidFill>
                <a:latin typeface="Malgun Gothic"/>
              </a:defRPr>
            </a:pPr>
            <a:r>
              <a:t>10. image model은 마지막 facade/aesthetic 단계만 담당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메싱 Flow 1: 입력에서 기준 매스까지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77266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1. PNU 입력: 예 1168011800104170004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2. ARR backend가 대지 정보 수집: 필지 경계, 대지면적, 용도지역, 도로/인접대지, DEM 기반 datum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3. 법규 constraint 계산: 건폐율, 용적률, 높이, 인접대지 이격, 정북일조 envelope, 채광사선 reference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4. legal envelope 생성: 이 대지에서 법적으로 매스가 들어갈 수 있는 3D 한계공간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5. floor plate stack 생성: legal envelope 안에서 층별 바닥판 생성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   예: 1F 102.93m², 2F 102.93m², 3F 74.99m², 4F 51.47m², 5F 28.96m²</a:t>
            </a:r>
          </a:p>
          <a:p>
            <a:pPr>
              <a:spcAft>
                <a:spcPts val="600"/>
              </a:spcAft>
              <a:defRPr sz="1180">
                <a:solidFill>
                  <a:srgbClr val="1E232A"/>
                </a:solidFill>
                <a:latin typeface="Malgun Gothic"/>
              </a:defRPr>
            </a:pPr>
            <a:r>
              <a:t>6. 기준 후보 생성: legal_layered_max = 법규 envelope를 최대한 채우는 기준 매스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15000"/>
            <a:ext cx="74066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715000"/>
            <a:ext cx="54864" cy="50292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861304"/>
            <a:ext cx="7022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190488"/>
            <a:ext cx="7022592" cy="-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여기까지는 LLM이 아니라 ARR/MAAS 코드가 deterministic geometry로 계산한다.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6796"/>
                </a:solidFill>
                <a:latin typeface="Malgun Gothic"/>
              </a:rPr>
              <a:t>MAAS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232A"/>
                </a:solidFill>
                <a:latin typeface="Malgun Gothic"/>
              </a:rPr>
              <a:t>메싱 Flow 2: 후보 다양화에서 LLM Review까지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8138160" cy="18288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772667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7. 형태 seed/operator 적용: 다단 일조스텝, 포디움/타워, 분절+브릿지+계단, 테라스, 중정형, 바형, 코너/오픈코트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8. 각 후보를 법규 안으로 repair/check: 법규 밖으로 나간 후보는 자르거나 수정하고, 그래도 실패하면 버림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9. 점수화/선택: FAR/BCR 활용도, 높이, 일조 여유, 형태 다양성, plan diversity, section diversity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10. frontend에 후보 전달: mass_geojson, floor_plates, mass_volumes, metrics가 UI로 전달됨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11. agent/LLM review: 후보 설명, 부족 evidence 지적, needs_evidence 판단, 재생성/수정 요청</a:t>
            </a:r>
          </a:p>
          <a:p>
            <a:pPr>
              <a:spcAft>
                <a:spcPts val="600"/>
              </a:spcAft>
              <a:defRPr sz="1200">
                <a:solidFill>
                  <a:srgbClr val="1E232A"/>
                </a:solidFill>
                <a:latin typeface="Malgun Gothic"/>
              </a:defRPr>
            </a:pPr>
            <a:r>
              <a:t>LLM이 직접 좌표를 찍어서 '이런 매스 만들자' 하는 구조가 아니다.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742432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742432"/>
            <a:ext cx="54864" cy="59436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888736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217920"/>
            <a:ext cx="194767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리뷰어 / 설명자 / 오케스트레이터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5742432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5742432"/>
            <a:ext cx="54864" cy="59436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5888736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MAAS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6217920"/>
            <a:ext cx="194767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실제 매스 생성기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742432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5742432"/>
            <a:ext cx="54864" cy="59436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5888736"/>
            <a:ext cx="1947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법규 envelope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6217920"/>
            <a:ext cx="1947672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geometry 기준선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74980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9ECDEB"/>
                </a:solidFill>
                <a:latin typeface="Malgun Gothic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88720"/>
            <a:ext cx="7680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algun Gothic"/>
              </a:rPr>
              <a:t>지금 보여줄 핵심은
VWorld가 아니라 DOM/API와 MAAS 근거다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2788920"/>
            <a:ext cx="54864" cy="1234440"/>
          </a:xfrm>
          <a:prstGeom prst="rect">
            <a:avLst/>
          </a:prstGeom>
          <a:solidFill>
            <a:srgbClr val="1E6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Playwright DOM 캡처
법규 패널
2D fallback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2788920"/>
            <a:ext cx="54864" cy="1234440"/>
          </a:xfrm>
          <a:prstGeom prst="rect">
            <a:avLst/>
          </a:prstGeom>
          <a:solidFill>
            <a:srgbClr val="2B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legal envelope first
seed/operator diversity
계단/스텝 grammar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2423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788920"/>
            <a:ext cx="54864" cy="1234440"/>
          </a:xfrm>
          <a:prstGeom prst="rect">
            <a:avLst/>
          </a:prstGeom>
          <a:solidFill>
            <a:srgbClr val="B17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935224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232A"/>
                </a:solidFill>
                <a:latin typeface="Malgun Gothic"/>
              </a:rPr>
              <a:t>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264408"/>
            <a:ext cx="20391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574"/>
                </a:solidFill>
                <a:latin typeface="Malgun Gothic"/>
              </a:rPr>
              <a:t>Nano Banana adapter
locked reference PNG
needs_provider 정직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DCE6F0"/>
                </a:solidFill>
                <a:latin typeface="Malgun Gothic"/>
              </a:rPr>
              <a:t>산출 파일: docs/maas-progress-report-vworld-corrected.pptx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64922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